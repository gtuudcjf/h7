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2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presProps" Target="presProps.xml" /><Relationship Id="rId15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: '#FFFFFF', padding: 0, fontFamily: 'Microsoft YaHei, SimHei, sans-serif' }}&gt;&#10;    &lt;Box style={{ flexDirection: 'row', height: '100%' }}&gt;&#10;        &lt;Box style={{ width: 520, height: '100%', background: '#0E3F8C', paddingTop: 72, paddingBottom: 72, paddingLeft: 48, paddingRight: 48, justifyContent: 'space-between' }}&gt;&#10;            &lt;Box style={{ gap: 18 }}&gt;&#10;                &lt;Text style={{ fontSize: 18, color: '#9DBBE8' }}&gt;STM32H743 · LAN9252 · TwinCAT 3&lt;/Text&gt;&#10;                &lt;Text style={{ fontSize: 60, fontWeight: 'bold', color: '#FFFFFF' }}&gt;电机联调&lt;/Text&gt;&#10;                &lt;Text style={{ fontSize: 60, fontWeight: 'bold', color: '#FFFFFF' }}&gt;阶段汇报&lt;/Text&gt;&#10;                &lt;Text style={{ fontSize: 22, color: '#BFD3EE' }}&gt;Mode 2 · 虚拟电角度 + 电流闭环&lt;/Text&gt;&#10;            &lt;/Box&gt;&#10;            &lt;Box style={{ gap: 14 }}&gt;&#10;                &lt;Box style={{ width: 96, height: 4, background: '#3D7BD9' }} /&gt;&#10;                &lt;Text style={{ fontSize: 18, color: '#9DBBE8' }}&gt;工作周期 2026.10.20 — 2026.10.23&lt;/Text&gt;&#10;            &lt;/Box&gt;&#10;        &lt;/Box&gt;&#10;        &lt;Box style={{ width: 760, height: '100%', background: '#FFFFFF', paddingTop: 72, paddingBottom: 72, paddingLeft: 56, paddingRight: 56, justifyContent: 'space-between' }}&gt;&#10;            &lt;Box style={{ gap: 26 }}&gt;&#10;                &lt;Text style={{ fontSize: 24, fontWeight: 'bold', color: '#1E4FA8' }}&gt;本阶段核心结论&lt;/Text&gt;&#10;                &lt;Box style={{ background: '#F0F5FC', border: '1px solid #D6DCE5', borderRadius: 8, paddingTop: 26, paddingBottom: 26, paddingLeft: 28, paddingRight: 28, gap: 14 }}&gt;&#10;                    &lt;Text style={{ fontSize: 26, fontWeight: 'bold', color: '#0E3F8C' }}&gt;已把 TwinCAT 指令接入 H743 电机执行链路&lt;/Text&gt;&#10;                    &lt;Text style={{ fontSize: 22, color: '#4A5568' }}&gt;并在正速度给定 +6 / +12 下实际观察到电机旋转&lt;/Text&gt;&#10;                &lt;/Box&gt;&#10;                &lt;Box style={{ flexDirection: 'row', gap: 20 }}&gt;&#10;                    &lt;Box style={{ flex: 1, background: '#F7F9FC', border: '1px solid #D6DCE5', borderRadius: 8, paddingTop: 22, paddingBottom: 22, paddingLeft: 18, paddingRight: 18, gap: 8 }}&gt;&#10;                        &lt;Text style={{ fontSize: 34, fontWeight: 'bold', color: '#1E4FA8' }}&gt;+6 / +12&lt;/Text&gt;&#10;                        &lt;Text style={{ fontSize: 18, color: '#8B97A8' }}&gt;正给定已起转&lt;/Text&gt;&#10;                    &lt;/Box&gt;&#10;                    &lt;Box style={{ flex: 1, background: '#F7F9FC', border: '1px solid #D6DCE5', borderRadius: 8, paddingTop: 22, paddingBottom: 22, paddingLeft: 18, paddingRight: 18, gap: 8 }}&gt;&#10;                        &lt;Text style={{ fontSize: 34, fontWeight: 'bold', color: '#1E4FA8' }}&gt;10&lt;/Text&gt;&#10;                        &lt;Text style={{ fontSize: 18, color: '#8B97A8' }}&gt;极对数 p&lt;/Text&gt;&#10;                    &lt;/Box&gt;&#10;                    &lt;Box style={{ flex: 1, background: '#F7F9FC', border: '1px solid #D6DCE5', borderRadius: 8, paddingTop: 22, paddingBottom: 22, paddingLeft: 18, paddingRight: 18, gap: 8 }}&gt;&#10;                        &lt;Text style={{ fontSize: 34, fontWeight: 'bold', color: '#1E4FA8' }}&gt;6 s&lt;/Text&gt;&#10;                        &lt;Text style={{ fontSize: 18, color: '#8B97A8' }}&gt;运动时限上限&lt;/Text&gt;&#10;                    &lt;/Box&gt;&#10;                &lt;/Box&gt;&#10;            &lt;/Box&gt;&#10;            &lt;Box style={{ gap: 10 }}&gt;&#10;                &lt;Text style={{ fontSize: 22, color: '#1A2230' }}&gt;汇报人：奇点&lt;/Text&gt;&#10;                &lt;Text style={{ fontSize: 20, color: '#4A5568' }}&gt;汇报对象：指导教师&lt;/Text&gt;&#10;                &lt;Text style={{ fontSize: 18, color: '#8B97A8' }}&gt;平台：STM32H743-VOFA 电机控制平台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953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57200" y="685800"/>
            <a:ext cx="403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9DBBE8"/>
                </a:solidFill>
                <a:latin typeface="Microsoft YaHei"/>
                <a:ea typeface="Microsoft YaHei"/>
              </a:rPr>
              <a:t>STM32H743 · LAN9252 · TwinCAT 3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457200" y="1066800"/>
            <a:ext cx="40386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电机联调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457200" y="1924050"/>
            <a:ext cx="40386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阶段汇报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457200" y="2781300"/>
            <a:ext cx="4038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BFD3EE"/>
                </a:solidFill>
                <a:latin typeface="Microsoft YaHei"/>
                <a:ea typeface="Microsoft YaHei"/>
              </a:rPr>
              <a:t>Mode 2 · </a:t>
            </a:r>
            <a:r>
              <a:rPr lang="zh-CN" sz="1650">
                <a:solidFill>
                  <a:srgbClr val="BFD3EE"/>
                </a:solidFill>
                <a:latin typeface="Microsoft YaHei"/>
                <a:ea typeface="Microsoft YaHei"/>
              </a:rPr>
              <a:t>虚拟电角度</a:t>
            </a:r>
            <a:r>
              <a:rPr lang="en-US" sz="1650">
                <a:solidFill>
                  <a:srgbClr val="BFD3EE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BFD3EE"/>
                </a:solidFill>
                <a:latin typeface="Microsoft YaHei"/>
                <a:ea typeface="Microsoft YaHei"/>
              </a:rPr>
              <a:t>电流闭环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457200" y="5791200"/>
            <a:ext cx="914400" cy="381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457200" y="5962650"/>
            <a:ext cx="4038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DBBE8"/>
                </a:solidFill>
                <a:latin typeface="Microsoft YaHei"/>
                <a:ea typeface="Microsoft YaHei"/>
              </a:rPr>
              <a:t>工作周期</a:t>
            </a:r>
            <a:r>
              <a:rPr lang="en-US" sz="1350">
                <a:solidFill>
                  <a:srgbClr val="9DBBE8"/>
                </a:solidFill>
                <a:latin typeface="Microsoft YaHei"/>
                <a:ea typeface="Microsoft YaHei"/>
              </a:rPr>
              <a:t> 2026.10.20 — 2026.10.23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4953000" y="0"/>
            <a:ext cx="7239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486400" y="685800"/>
            <a:ext cx="6172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本阶段核心结论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486400" y="1209675"/>
            <a:ext cx="6172200" cy="1190625"/>
          </a:xfrm>
          <a:prstGeom prst="roundRect">
            <a:avLst>
              <a:gd name="adj" fmla="val 640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753100" y="1457325"/>
            <a:ext cx="5638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已把</a:t>
            </a: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 TwinCAT 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指令接入</a:t>
            </a: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 H743 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电机执行链路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53100" y="1895475"/>
            <a:ext cx="5638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并在正速度给定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+6 / +12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下实际观察到电机旋转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486400" y="2647950"/>
            <a:ext cx="1933575" cy="1095375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657850" y="2857500"/>
            <a:ext cx="1590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+6 / +12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657850" y="3324225"/>
            <a:ext cx="1590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正给定已起转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7610475" y="2647950"/>
            <a:ext cx="1924050" cy="1095375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781925" y="2857500"/>
            <a:ext cx="1581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781925" y="3324225"/>
            <a:ext cx="158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极对数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p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9725025" y="2647950"/>
            <a:ext cx="1933575" cy="1095375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896475" y="2857500"/>
            <a:ext cx="1590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6 s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896475" y="3324225"/>
            <a:ext cx="1590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运动时限上限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486400" y="5286375"/>
            <a:ext cx="6172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汇报人：奇点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486400" y="5638800"/>
            <a:ext cx="617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汇报对象：指导教师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486400" y="5962650"/>
            <a:ext cx="617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平台：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STM32H743-VOFA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电机控制平台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8" name="" descr="&lt;Slide style={{ width: '1280px', height: '720px', background: '#FFFFFF', padding: 0, fontFamily: 'Microsoft YaHei, SimHei, sans-serif' }}&gt;&#10;    &lt;Box style={{ height: 72, background: '#1E4FA8', flexDirection: 'row', alignItems: 'center', justifyContent: 'space-between', paddingLeft: 40, paddingRight: 40 }}&gt;&#10;        &lt;Text style={{ fontSize: 30, fontWeight: 'bold', color: '#FFFFFF' }}&gt;汇报提纲&lt;/Text&gt;&#10;        &lt;Text style={{ fontSize: 20, color: '#BFD3EE' }}&gt;工作周期 2026.10.20 — 2026.10.23&lt;/Text&gt;&#10;    &lt;/Box&gt;&#10;    &lt;Box style={{ height: 588, paddingTop: 24, paddingBottom: 16, paddingLeft: 40, paddingRight: 40, gap: 10 }}&gt;&#10;        &lt;Box style={{ height: 83, flexDirection: 'row', alignItems: 'center', gap: 24, background: '#F0F5FC', border: '1px solid #D6DCE5', borderRadius: 8, paddingLeft: 24, paddingRight: 24 }}&gt;&#10;            &lt;Box style={{ width: 56, height: 56, background: '#1E4FA8', borderRadius: 8, alignItems: 'center', justifyContent: 'center' }}&gt;&#10;                &lt;Text style={{ fontSize: 26, fontWeight: 'bold', color: '#FFFFFF' }}&gt;01&lt;/Text&gt;&#10;            &lt;/Box&gt;&#10;            &lt;Box style={{ flex: 1, gap: 4 }}&gt;&#10;                &lt;Text style={{ fontSize: 26, fontWeight: 'bold', color: '#1A2230' }}&gt;阶段目标与当前成果&lt;/Text&gt;&#10;                &lt;Text style={{ fontSize: 19, color: '#4A5568' }}&gt;通信与控制链路已打通，正给定下电机已实际旋转&lt;/Text&gt;&#10;            &lt;/Box&gt;&#10;        &lt;/Box&gt;&#10;        &lt;Box style={{ height: 83, flexDirection: 'row', alignItems: 'center', gap: 24, background: '#FFFFFF', border: '1px solid #D6DCE5', borderRadius: 8, paddingLeft: 24, paddingRight: 24 }}&gt;&#10;            &lt;Box style={{ width: 56, height: 56, background: '#1E4FA8', borderRadius: 8, alignItems: 'center', justifyContent: 'center' }}&gt;&#10;                &lt;Text style={{ fontSize: 26, fontWeight: 'bold', color: '#FFFFFF' }}&gt;02&lt;/Text&gt;&#10;            &lt;/Box&gt;&#10;            &lt;Box style={{ flex: 1, gap: 4 }}&gt;&#10;                &lt;Text style={{ fontSize: 26, fontWeight: 'bold', color: '#1A2230' }}&gt;系统链路与控制模式边界&lt;/Text&gt;&#10;                &lt;Text style={{ fontSize: 19, color: '#4A5568' }}&gt;模式 2 是虚拟电角度 + 电流闭环，不是编码器速度闭环&lt;/Text&gt;&#10;            &lt;/Box&gt;&#10;        &lt;/Box&gt;&#10;        &lt;Box style={{ height: 83, flexDirection: 'row', alignItems: 'center', gap: 24, background: '#F0F5FC', border: '1px solid #D6DCE5', borderRadius: 8, paddingLeft: 24, paddingRight: 24 }}&gt;&#10;            &lt;Box style={{ width: 56, height: 56, background: '#1E4FA8', borderRadius: 8, alignItems: 'center', justifyContent: 'center' }}&gt;&#10;                &lt;Text style={{ fontSize: 26, fontWeight: 'bold', color: '#FFFFFF' }}&gt;03&lt;/Text&gt;&#10;            &lt;/Box&gt;&#10;            &lt;Box style={{ flex: 1, gap: 4 }}&gt;&#10;                &lt;Text style={{ fontSize: 26, fontWeight: 'bold', color: '#1A2230' }}&gt;四天推进时间线&lt;/Text&gt;&#10;                &lt;Text style={{ fontSize: 19, color: '#4A5568' }}&gt;10 月 20 日至 23 日，按日推进联调与诊断&lt;/Text&gt;&#10;            &lt;/Box&gt;&#10;        &lt;/Box&gt;&#10;        &lt;Box style={{ height: 83, flexDirection: 'row', alignItems: 'center', gap: 24, background: '#FFFFFF', border: '1px solid #D6DCE5', borderRadius: 8, paddingLeft: 24, paddingRight: 24 }}&gt;&#10;            &lt;Box style={{ width: 56, height: 56, background: '#1E4FA8', borderRadius: 8, alignItems: 'center', justifyContent: 'center' }}&gt;&#10;                &lt;Text style={{ fontSize: 26, fontWeight: 'bold', color: '#FFFFFF' }}&gt;04&lt;/Text&gt;&#10;            &lt;/Box&gt;&#10;            &lt;Box style={{ flex: 1, gap: 4 }}&gt;&#10;                &lt;Text style={{ fontSize: 26, fontWeight: 'bold', color: '#1A2230' }}&gt;关键问题与排查&lt;/Text&gt;&#10;                &lt;Text style={{ fontSize: 19, color: '#4A5568' }}&gt;六个问题的现象、定位、处置与保留边界&lt;/Text&gt;&#10;            &lt;/Box&gt;&#10;        &lt;/Box&gt;&#10;        &lt;Box style={{ height: 83, flexDirection: 'row', alignItems: 'center', gap: 24, background: '#F0F5FC', border: '1px solid #D6DCE5', borderRadius: 8, paddingLeft: 24, paddingRight: 24 }}&gt;&#10;            &lt;Box style={{ width: 56, height: 56, background: '#1E4FA8', borderRadius: 8, alignItems: 'center', justifyContent: 'center' }}&gt;&#10;                &lt;Text style={{ fontSize: 26, fontWeight: 'bold', color: '#FFFFFF' }}&gt;05&lt;/Text&gt;&#10;            &lt;/Box&gt;&#10;            &lt;Box style={{ flex: 1, gap: 4 }}&gt;&#10;                &lt;Text style={{ fontSize: 26, fontWeight: 'bold', color: '#1A2230' }}&gt;TwinCAT 操作流程与状态机&lt;/Text&gt;&#10;                &lt;Text style={{ fontSize: 19, color: '#4A5568' }}&gt;七步操作顺序、相位状态机与故障复位路径&lt;/Text&gt;&#10;            &lt;/Box&gt;&#10;        &lt;/Box&gt;&#10;        &lt;Box style={{ height: 83, flexDirection: 'row', alignItems: 'center', gap: 24, background: '#FFFFFF', border: '1px solid #D6DCE5', borderRadius: 8, paddingLeft: 24, paddingRight: 24 }}&gt;&#10;            &lt;Box style={{ width: 56, height: 56, background: '#1E4FA8', borderRadius: 8, alignItems: 'center', justifyContent: 'center' }}&gt;&#10;                &lt;Text style={{ fontSize: 26, fontWeight: 'bold', color: '#FFFFFF' }}&gt;06&lt;/Text&gt;&#10;            &lt;/Box&gt;&#10;            &lt;Box style={{ flex: 1, gap: 4 }}&gt;&#10;                &lt;Text style={{ fontSize: 26, fontWeight: 'bold', color: '#1A2230' }}&gt;当前配置、后续工作与结论&lt;/Text&gt;&#10;                &lt;Text style={{ fontSize: 19, color: '#4A5568' }}&gt;参数表、三项待办，以及可汇报与不可汇报的边界&lt;/Text&gt;&#10;            &lt;/Box&gt;&#10;        &lt;/Box&gt;&#10;    &lt;/Box&gt;&#10;    &lt;Box style={{ height: 60, flexDirection: 'row', alignItems: 'center', justifyContent: 'space-between', paddingLeft: 40, paddingRight: 40 }}&gt;&#10;        &lt;Text style={{ fontSize: 14, color: '#8B97A8' }}&gt;STM32H743-VOFA 电机控制平台&lt;/Text&gt;&#10;        &lt;Text style={{ fontSize: 16, color: '#1E4FA8' }}&gt;02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81000" y="171450"/>
            <a:ext cx="114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汇报提纲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696325" y="228600"/>
            <a:ext cx="3114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工作周期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2026.10.20 — 2026.10.23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381000" y="914400"/>
            <a:ext cx="11430000" cy="790575"/>
          </a:xfrm>
          <a:prstGeom prst="roundRect">
            <a:avLst>
              <a:gd name="adj" fmla="val 963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609600" y="10477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23900" y="116205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371600" y="1028700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阶段目标与当前成果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371600" y="1371600"/>
            <a:ext cx="10210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通信与控制链路已打通，正给定下电机已实际旋转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381000" y="1800225"/>
            <a:ext cx="11430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609600" y="193357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23900" y="204787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371600" y="191452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系统链路与控制模式边界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371600" y="2257425"/>
            <a:ext cx="10210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模式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2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是虚拟电角度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电流闭环，不是编码器速度闭环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381000" y="2686050"/>
            <a:ext cx="11430000" cy="790575"/>
          </a:xfrm>
          <a:prstGeom prst="roundRect">
            <a:avLst>
              <a:gd name="adj" fmla="val 963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609600" y="28194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23900" y="293370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371600" y="2800350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四天推进时间线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371600" y="3143250"/>
            <a:ext cx="10210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10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月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20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日至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23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日，按日推进联调与诊断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381000" y="3571875"/>
            <a:ext cx="11430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09600" y="37052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23900" y="381952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371600" y="368617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关键问题与排查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371600" y="4029075"/>
            <a:ext cx="10210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六个问题的现象、定位、处置与保留边界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381000" y="4457700"/>
            <a:ext cx="11430000" cy="790575"/>
          </a:xfrm>
          <a:prstGeom prst="roundRect">
            <a:avLst>
              <a:gd name="adj" fmla="val 963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609600" y="45910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23900" y="470535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371600" y="4572000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TwinCAT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操作流程与状态机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371600" y="4914900"/>
            <a:ext cx="10210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七步操作顺序、相位状态机与故障复位路径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81000" y="5343525"/>
            <a:ext cx="11430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609600" y="547687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23900" y="559117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371600" y="545782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当前配置、后续工作与结论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371600" y="5800725"/>
            <a:ext cx="10210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参数表、三项待办，以及可汇报与不可汇报的边界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STM32H743-VOFA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电机控制平台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05" name="" descr="&lt;Slide style={{ width: '1280px', height: '720px', background: '#FFFFFF', padding: 0, fontFamily: 'Microsoft YaHei, SimHei, sans-serif' }}&gt;&#10;    &lt;Box style={{ height: 72, background: '#1E4FA8', flexDirection: 'row', alignItems: 'center', justifyContent: 'space-between', paddingLeft: 40, paddingRight: 40 }}&gt;&#10;        &lt;Text style={{ fontSize: 30, fontWeight: 'bold', color: '#FFFFFF' }}&gt;01 阶段目标与当前成果&lt;/Text&gt;&#10;        &lt;Text style={{ fontSize: 20, color: '#BFD3EE' }}&gt;截至 2026 年 10 月 23 日&lt;/Text&gt;&#10;    &lt;/Box&gt;&#10;    &lt;Box style={{ height: 588, paddingTop: 24, paddingBottom: 16, paddingLeft: 40, paddingRight: 40 }}&gt;&#10;        &lt;Box style={{ height: 56, background: '#F0F5FC', borderLeft: '6px solid #1E4FA8', paddingLeft: 22, paddingRight: 22, justifyContent: 'center' }}&gt;&#10;            &lt;Text style={{ fontSize: 22, color: '#1A2230' }}&gt;阶段目标：在从站已能进入 OP 的基础上，把 TwinCAT 的 PLC 指令接入 H743 电机控制程序，并推进实板联调&lt;/Text&gt;&#10;        &lt;/Box&gt;&#10;        &lt;Box style={{ height: 18 }} /&gt;&#10;        &lt;Table&#10;            style={{ width: '100%', height: 322 }}&#10;            defaultTextStyle={{ fontSize: 18, textAlign: 'center', color: '#1A2230' }}&#10;            defaultCellStyle={{ border: { left: { width: 1, color: '#D6DCE5' }, right: { width: 1, color: '#D6DCE5' }, top: { width: 1, color: '#D6DCE5' }, bottom: { width: 1, color: '#D6DCE5' } } }}&#10;            cells={[&#10;                [&#10;                    { text: '项目', textStyle: { bold: true, color: '#FFFFFF' }, cellStyle: { background: { color: '#1E4FA8' } } },&#10;                    { text: '截至 10 月 23 日的结果', textStyle: { bold: true, color: '#FFFFFF' }, cellStyle: { background: { color: '#1E4FA8' } } },&#10;                    { text: '证据层次', textStyle: { bold: true, color: '#FFFFFF' }, cellStyle: { background: { color: '#1E4FA8' } } },&#10;                ],&#10;                [&#10;                    { text: '通信与控制链路', cellStyle: { background: { color: '#F7F9FC' } } },&#10;                    { text: 'TwinCAT 能进入 OP，PLC 可下发启动与速度指令', cellStyle: { background: { color: '#F7F9FC' } } },&#10;                    { text: '实机已观察', cellStyle: { background: { color: '#F7F9FC' } } },&#10;                ],&#10;                [&#10;                    '电机旋转',&#10;                    '正给定 +6、+12 时均可转动，两者不是实测转速',&#10;                    '实机已观察',&#10;                ],&#10;                [&#10;                    { text: '最新运行时限', cellStyle: { background: { color: '#F7F9FC' } } },&#10;                    { text: '运动 6 秒、总会话 10 秒，两层限时配置已同步', cellStyle: { background: { color: '#F7F9FC' } } },&#10;                    { text: '修改及离线验证完成', cellStyle: { background: { color: '#F7F9FC' } } },&#10;                ],&#10;                [&#10;                    '正反转与运行质量',&#10;                    '负给定反向未验证，平滑度与可闻噪声仍待分析',&#10;                    '待进一步验证',&#10;                ],&#10;                [&#10;                    { text: '电流采样与保护', cellStyle: { background: { color: '#F7F9FC' } } },&#10;                    { text: '完成诊断与配置修正，异常采样根因仍未确认', cellStyle: { background: { color: '#F7F9FC' } } },&#10;                    { text: '部分修正，问题保留', cellStyle: { background: { color: '#F7F9FC' } } },&#10;                ],&#10;            ]}&#10;        /&gt;&#10;        &lt;Box style={{ height: 18 }} /&gt;&#10;        &lt;Box style={{ height: 134, background: '#0E3F8C', borderRadius: 8, paddingTop: 24, paddingBottom: 24, paddingLeft: 32, paddingRight: 32, justifyContent: 'center', gap: 12 }}&gt;&#10;            &lt;Text style={{ fontSize: 24, fontWeight: 'bold', color: '#FFFFFF' }}&gt;可汇报的结论&lt;/Text&gt;&#10;            &lt;Text style={{ fontSize: 22, color: '#D9E4F5' }}&gt;控制链路已打通，正给定 +6 / +12 下电机实际旋转；反向运行、转速精度与平滑度尚未验收，本轮不写作闭环性能验收结论&lt;/Text&gt;&#10;        &lt;/Box&gt;&#10;    &lt;/Box&gt;&#10;    &lt;Box style={{ height: 60, flexDirection: 'row', alignItems: 'center', justifyContent: 'space-between', paddingLeft: 40, paddingRight: 40 }}&gt;&#10;        &lt;Text style={{ fontSize: 14, color: '#8B97A8' }}&gt;STM32H743-VOFA 电机控制平台&lt;/Text&gt;&#10;        &lt;Text style={{ fontSize: 16, color: '#1E4FA8' }}&gt;03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81000" y="171450"/>
            <a:ext cx="30099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阶段目标与当前成果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9620250" y="228600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截至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2026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年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10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月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23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38150" y="914400"/>
            <a:ext cx="11430000" cy="5334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381000" y="914400"/>
            <a:ext cx="11487150" cy="533400"/>
          </a:xfrm>
          <a:custGeom>
            <a:pathLst>
              <a:path w="1206" h="56">
                <a:moveTo>
                  <a:pt x="0" y="0"/>
                </a:moveTo>
                <a:lnTo>
                  <a:pt x="6" y="0"/>
                </a:lnTo>
                <a:lnTo>
                  <a:pt x="6" y="56"/>
                </a:lnTo>
                <a:lnTo>
                  <a:pt x="0" y="5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47700" y="1057275"/>
            <a:ext cx="10953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阶段目标：在从站已能进入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OP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的基础上，把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TwinCAT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的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PLC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指令接入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H743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电机控制程序，并推进实板联调</a:t>
            </a:r>
            <a:endParaRPr/>
          </a:p>
        </p:txBody>
      </p:sp>
      <p:graphicFrame>
        <p:nvGraphicFramePr>
          <p:cNvPr id="113" name=""/>
          <p:cNvGraphicFramePr/>
          <p:nvPr/>
        </p:nvGraphicFramePr>
        <p:xfrm rot="0" flipH="0" flipV="0">
          <a:off x="381000" y="1619250"/>
          <a:ext cx="11430000" cy="3067050"/>
        </p:xfrm>
        <a:graphic>
          <a:graphicData uri="http://schemas.openxmlformats.org/drawingml/2006/table">
            <a:tbl>
              <a:tblGrid>
                <a:gridCol w="2392543">
                  <a:extLst>
                    <a:ext uri="{9D8B030D-6E8A-4147-A177-3AD203B41FA5}">
                      <a16:colId val="1"/>
                    </a:ext>
                  </a:extLst>
                </a:gridCol>
                <a:gridCol w="6364538">
                  <a:extLst>
                    <a:ext uri="{9D8B030D-6E8A-4147-A177-3AD203B41FA5}">
                      <a16:colId val="2"/>
                    </a:ext>
                  </a:extLst>
                </a:gridCol>
                <a:gridCol w="2672919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111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截至 10 月 23 日的结果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证据层次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111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通信与控制链路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TwinCAT 能进入 OP，PLC 可下发启动与速度指令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实机已观察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111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电机旋转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正给定 +6、+12 时均可转动，两者不是实测转速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实机已观察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111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最新运行时限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运动 6 秒、总会话 10 秒，两层限时配置已同步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修改及离线验证完成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111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正反转与运行质量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负给定反向未验证，平滑度与可闻噪声仍待分析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待进一步验证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1117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电流采样与保护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完成诊断与配置修正，异常采样根因仍未确认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部分修正，问题保留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14" name=""/>
          <p:cNvSpPr/>
          <p:nvPr/>
        </p:nvSpPr>
        <p:spPr>
          <a:xfrm rot="0" flipH="0" flipV="0">
            <a:off x="381000" y="4857750"/>
            <a:ext cx="11430000" cy="1276350"/>
          </a:xfrm>
          <a:prstGeom prst="roundRect">
            <a:avLst>
              <a:gd name="adj" fmla="val 597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85800" y="5048250"/>
            <a:ext cx="10820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可汇报的结论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85800" y="5438775"/>
            <a:ext cx="108204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>
                <a:solidFill>
                  <a:srgbClr val="D9E4F5"/>
                </a:solidFill>
                <a:latin typeface="Microsoft YaHei"/>
                <a:ea typeface="Microsoft YaHei"/>
              </a:rPr>
              <a:t>控制链路已打通，正给定</a:t>
            </a:r>
            <a:r>
              <a:rPr lang="en-US" sz="1650">
                <a:solidFill>
                  <a:srgbClr val="D9E4F5"/>
                </a:solidFill>
                <a:latin typeface="Microsoft YaHei"/>
                <a:ea typeface="Microsoft YaHei"/>
              </a:rPr>
              <a:t> +6 / +12 </a:t>
            </a:r>
            <a:r>
              <a:rPr lang="zh-CN" sz="1650">
                <a:solidFill>
                  <a:srgbClr val="D9E4F5"/>
                </a:solidFill>
                <a:latin typeface="Microsoft YaHei"/>
                <a:ea typeface="Microsoft YaHei"/>
              </a:rPr>
              <a:t>下电机实际旋转；反向运行、转速精度与平滑度尚未验收，本轮不写作闭环性能验收结论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STM32H743-VOFA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电机控制平台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9" name="" descr="&lt;Slide style={{ width: '1280px', height: '720px', background: '#FFFFFF', padding: 0, fontFamily: 'Microsoft YaHei, SimHei, sans-serif' }}&gt;&#10;    &lt;Box style={{ height: 72, background: '#1E4FA8', flexDirection: 'row', alignItems: 'center', justifyContent: 'space-between', paddingLeft: 40, paddingRight: 40 }}&gt;&#10;        &lt;Text style={{ fontSize: 30, fontWeight: 'bold', color: '#FFFFFF' }}&gt;02 系统链路与控制模式边界&lt;/Text&gt;&#10;        &lt;Text style={{ fontSize: 20, color: '#BFD3EE' }}&gt;TwinCAT 3 · EtherCAT · STM32H743 · DRV8323&lt;/Text&gt;&#10;    &lt;/Box&gt;&#10;    &lt;Box style={{ height: 588, paddingTop: 24, paddingBottom: 16, paddingLeft: 40, paddingRight: 40, flexDirection: 'row', gap: 24 }}&gt;&#10;        &lt;Box style={{ width: 720, height: '100%', alignItems: 'center', justifyContent: 'center', gap: 18 }}&gt;&#10;            &lt;svg width={720} height={318} viewBox='0 0 680 300'&gt;&#10;                &lt;defs&gt;&#10;                    &lt;marker id='arrow' viewBox='0 0 10 10' refX='8' refY='5' markerWidth='6' markerHeight='6' orient='auto-start-reverse'&gt;&#10;                        &lt;path d='M2 1L8 5L2 9' fill='none' stroke='context-stroke' strokeWidth='1.5' strokeLinecap='round' strokeLinejoin='round' /&gt;&#10;                    &lt;/marker&gt;&#10;                &lt;/defs&gt;&#10;                &lt;text x='341' y='40' textAnchor='middle' fontSize='12.5' fill='#1E4FA8'&gt;TxPDO：电流采样值与本地状态回传&lt;/text&gt;&#10;                &lt;path d='M584 76 L584 50 L98 50 L98 68' fill='none' stroke='#3D7BD9' strokeWidth='1.5' strokeDasharray='4 3' markerEnd='url(#arrow)' /&gt;&#10;                &lt;rect x='40' y='76' width='116' height='56' rx='8' fill='#E8EFF8' stroke='#1E4FA8' strokeWidth='0.5' /&gt;&#10;                &lt;text x='98' y='96' textAnchor='middle' dominantBaseline='central' fontSize='14' fontWeight='bold' fill='#0E3F8C'&gt;TwinCAT 3 PLC&lt;/text&gt;&#10;                &lt;text x='98' y='114' textAnchor='middle' dominantBaseline='central' fontSize='12.5' fill='#1E4FA8'&gt;PC 主站&lt;/text&gt;&#10;                &lt;path d='M156 104 L174 104' fill='none' stroke='#8B97A8' strokeWidth='1.5' markerEnd='url(#arrow)' /&gt;&#10;                &lt;rect x='180' y='76' width='100' height='56' rx='8' fill='#E8EFF8' stroke='#1E4FA8' strokeWidth='0.5' /&gt;&#10;                &lt;text x='230' y='96' textAnchor='middle' dominantBaseline='central' fontSize='14' fontWeight='bold' fill='#0E3F8C'&gt;EtherCAT&lt;/text&gt;&#10;                &lt;text x='230' y='114' textAnchor='middle' dominantBaseline='central' fontSize='12.5' fill='#1E4FA8'&gt;RxPDO 周期帧&lt;/text&gt;&#10;                &lt;path d='M280 104 L298 104' fill='none' stroke='#8B97A8' strokeWidth='1.5' markerEnd='url(#arrow)' /&gt;&#10;                &lt;rect x='304' y='76' width='104' height='56' rx='8' fill='#E8EFF8' stroke='#1E4FA8' strokeWidth='0.5' /&gt;&#10;                &lt;text x='356' y='96' textAnchor='middle' dominantBaseline='central' fontSize='14' fontWeight='bold' fill='#0E3F8C'&gt;LAN9252&lt;/text&gt;&#10;                &lt;text x='356' y='114' textAnchor='middle' dominantBaseline='central' fontSize='12.5' fill='#1E4FA8'&gt;ESC 从站芯片&lt;/text&gt;&#10;                &lt;path d='M408 104 L426 104' fill='none' stroke='#8B97A8' strokeWidth='1.5' markerEnd='url(#arrow)' /&gt;&#10;                &lt;rect x='432' y='76' width='72' height='56' rx='8' fill='#E8EFF8' stroke='#1E4FA8' strokeWidth='0.5' /&gt;&#10;                &lt;text x='468' y='96' textAnchor='middle' dominantBaseline='central' fontSize='14' fontWeight='bold' fill='#0E3F8C'&gt;SPI1&lt;/text&gt;&#10;                &lt;text x='468' y='114' textAnchor='middle' dominantBaseline='central' fontSize='12.5' fill='#1E4FA8'&gt;过程数据&lt;/text&gt;&#10;                &lt;path d='M504 104 L522 104' fill='none' stroke='#8B97A8' strokeWidth='1.5' markerEnd='url(#arrow)' /&gt;&#10;                &lt;rect x='528' y='76' width='112' height='56' rx='8' fill='#E8EFF8' stroke='#1E4FA8' strokeWidth='0.5' /&gt;&#10;                &lt;text x='584' y='96' textAnchor='middle' dominantBaseline='central' fontSize='14' fontWeight='bold' fill='#0E3F8C'&gt;STM32H743&lt;/text&gt;&#10;                &lt;text x='584' y='114' textAnchor='middle' dominantBaseline='central' fontSize='12.5' fill='#1E4FA8'&gt;桥接与状态机&lt;/text&gt;&#10;                &lt;path d='M584 132 L584 159 L110 159 L110 180' fill='none' stroke='#8B97A8' strokeWidth='1.5' markerEnd='url(#arrow)' /&gt;&#10;                &lt;rect x='40' y='186' width='140' height='56' rx='8' fill='#F0F5FC' stroke='#3D7BD9' strokeWidth='0.5' /&gt;&#10;                &lt;text x='110' y='206' textAnchor='middle' dominantBaseline='central' fontSize='14' fontWeight='bold' fill='#0E3F8C'&gt;电流环&lt;/text&gt;&#10;                &lt;text x='110' y='224' textAnchor='middle' dominantBaseline='central' fontSize='12.5' fill='#3D7BD9'&gt;对齐 0.5A / Iq 0.8A&lt;/text&gt;&#10;                &lt;path d='M180 214 L198 214' fill='none' stroke='#8B97A8' strokeWidth='1.5' markerEnd='url(#arrow)' /&gt;&#10;                &lt;rect x='204' y='186' width='140' height='56' rx='8' fill='#F0F5FC' stroke='#3D7BD9' strokeWidth='0.5' /&gt;&#10;                &lt;text x='274' y='206' textAnchor='middle' dominantBaseline='central' fontSize='14' fontWeight='bold' fill='#0E3F8C'&gt;TIM8 PWM&lt;/text&gt;&#10;                &lt;text x='274' y='224' textAnchor='middle' dominantBaseline='central' fontSize='12.5' fill='#3D7BD9'&gt;六路互补 约 10kHz&lt;/text&gt;&#10;                &lt;path d='M344 214 L362 214' fill='none' stroke='#8B97A8' strokeWidth='1.5' markerEnd='url(#arrow)' /&gt;&#10;                &lt;rect x='368' y='186' width='140' height='56' rx='8' fill='#F0F5FC' stroke='#3D7BD9' strokeWidth='0.5' /&gt;&#10;                &lt;text x='438' y='206' textAnchor='middle' dominantBaseline='central' fontSize='14' fontWeight='bold' fill='#0E3F8C'&gt;DRV8323&lt;/text&gt;&#10;                &lt;text x='438' y='224' textAnchor='middle' dominantBaseline='central' fontSize='12.5' fill='#3D7BD9'&gt;栅极驱动 三相桥&lt;/text&gt;&#10;                &lt;path d='M508 214 L526 214' fill='none' stroke='#8B97A8' strokeWidth='1.5' markerEnd='url(#arrow)' /&gt;&#10;                &lt;rect x='532' y='186' width='108' height='56' rx='8' fill='#F0F5FC' stroke='#3D7BD9' strokeWidth='0.5' /&gt;&#10;                &lt;text x='586' y='206' textAnchor='middle' dominantBaseline='central' fontSize='14' fontWeight='bold' fill='#0E3F8C'&gt;电机&lt;/text&gt;&#10;                &lt;text x='586' y='224' textAnchor='middle' dominantBaseline='central' fontSize='12.5' fill='#3D7BD9'&gt;10 对极 空载&lt;/text&gt;&#10;                &lt;text x='348' y='266' textAnchor='middle' fontSize='12.5' fill='#3D7BD9'&gt;ADC 注入采样 JDR1 / JDR2&lt;/text&gt;&#10;                &lt;path d='M586 242 L586 278 L110 278 L110 248' fill='none' stroke='#3D7BD9' strokeWidth='1.5' strokeDasharray='4 3' markerEnd='url(#arrow)' /&gt;&#10;            &lt;/svg&gt;&#10;            &lt;Box style={{ width: '100%', height: 56, background: '#F0F5FC', borderLeft: '6px solid #3D7BD9', paddingLeft: 22, paddingRight: 22, justifyContent: 'center' }}&gt;&#10;                &lt;Text style={{ fontSize: 20, color: '#1A2230' }}&gt;指令向下走「主站 → 从站 → MCU → 功率级」，电流采样与本地状态沿原路回传&lt;/Text&gt;&#10;            &lt;/Box&gt;&#10;        &lt;/Box&gt;&#10;        &lt;Box style={{ width: 456, height: '100%', gap: 16 }}&gt;&#10;            &lt;Box style={{ flex: 1, background: '#F7F9FC', border: '1px solid #D6DCE5', borderRadius: 8, paddingTop: 22, paddingBottom: 22, paddingLeft: 24, paddingRight: 24, justifyContent: 'space-between' }}&gt;&#10;                &lt;Box style={{ gap: 14 }}&gt;&#10;                    &lt;Box style={{ background: '#E8EFF8', borderRadius: 4, paddingTop: 6, paddingBottom: 6, paddingLeft: 12, paddingRight: 12, alignSelf: 'flex-start' }}&gt;&#10;                        &lt;Text style={{ fontSize: 24, fontWeight: 'bold', color: '#0E3F8C' }}&gt;模式 2 与控制边界&lt;/Text&gt;&#10;                    &lt;/Box&gt;&#10;                    &lt;Text style={{ fontSize: 22, color: '#4A5568' }}&gt;当前采用「虚拟电角度 + 电流闭环」，由 MCU 对给定频率积分得到电气角，不使用编码器反馈；OP 只说明通信进入运行状态，不代表电机已启动或转速已闭环。&lt;/Text&gt;&#10;                &lt;/Box&gt;&#10;                &lt;Text style={{ fontSize: 20, fontWeight: 'bold', color: '#D9534F' }}&gt;它不是编码器速度闭环&lt;/Text&gt;&#10;            &lt;/Box&gt;&#10;            &lt;Box style={{ flex: 1, background: '#F7F9FC', border: '1px solid #D6DCE5', borderRadius: 8, paddingTop: 22, paddingBottom: 22, paddingLeft: 24, paddingRight: 24, justifyContent: 'space-between' }}&gt;&#10;                &lt;Box style={{ gap: 14 }}&gt;&#10;                    &lt;Box style={{ background: '#E8EFF8', borderRadius: 4, paddingTop: 6, paddingBottom: 6, paddingLeft: 12, paddingRight: 12, alignSelf: 'flex-start' }}&gt;&#10;                        &lt;Text style={{ fontSize: 24, fontWeight: 'bold', color: '#0E3F8C' }}&gt;主站与从站的分工&lt;/Text&gt;&#10;                    &lt;/Box&gt;&#10;                    &lt;Text style={{ fontSize: 22, color: '#4A5568' }}&gt;在 MAIN 写入需求 6，PLC 乘 10 形成 TargetSpeed=60 的 PDO 输出；H743 桥接层解析后交给模式 2 策略，换算为电角频率，再由电流环与 PWM 执行。&lt;/Text&gt;&#10;                &lt;/Box&gt;&#10;                &lt;Text style={{ fontSize: 20, fontWeight: 'bold', color: '#1E4FA8' }}&gt;主站不逐点生成六路 PWM&lt;/Text&gt;&#10;            &lt;/Box&gt;&#10;        &lt;/Box&gt;&#10;    &lt;/Box&gt;&#10;    &lt;Box style={{ height: 60, flexDirection: 'row', alignItems: 'center', justifyContent: 'space-between', paddingLeft: 40, paddingRight: 40 }}&gt;&#10;        &lt;Text style={{ fontSize: 14, color: '#8B97A8' }}&gt;STM32H743-VOFA 电机控制平台&lt;/Text&gt;&#10;        &lt;Text style={{ fontSize: 16, color: '#1E4FA8' }}&gt;04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81000" y="171450"/>
            <a:ext cx="3581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系统链路与控制模式边界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600950" y="228600"/>
            <a:ext cx="4210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TwinCAT 3 · EtherCAT · STM32H743 · DRV8323</a:t>
            </a:r>
            <a:endParaRPr/>
          </a:p>
        </p:txBody>
      </p:sp>
      <p:pic>
        <p:nvPicPr>
          <p:cNvPr id="1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657350"/>
            <a:ext cx="6858000" cy="3028950"/>
          </a:xfrm>
          <a:prstGeom prst="rect">
            <a:avLst/>
          </a:prstGeom>
          <a:ln/>
        </p:spPr>
      </p:pic>
      <p:sp>
        <p:nvSpPr>
          <p:cNvPr id="125" name=""/>
          <p:cNvSpPr/>
          <p:nvPr/>
        </p:nvSpPr>
        <p:spPr>
          <a:xfrm rot="0" flipH="0" flipV="0">
            <a:off x="438150" y="4857750"/>
            <a:ext cx="6858000" cy="5334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381000" y="4857750"/>
            <a:ext cx="6915150" cy="533400"/>
          </a:xfrm>
          <a:custGeom>
            <a:pathLst>
              <a:path w="726" h="56">
                <a:moveTo>
                  <a:pt x="0" y="0"/>
                </a:moveTo>
                <a:lnTo>
                  <a:pt x="6" y="0"/>
                </a:lnTo>
                <a:lnTo>
                  <a:pt x="6" y="56"/>
                </a:lnTo>
                <a:lnTo>
                  <a:pt x="0" y="56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47700" y="4895850"/>
            <a:ext cx="63817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指令向下走「主站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从站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→ MCU →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功率级」，电流采样与本地状态沿原路回传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7467600" y="914400"/>
            <a:ext cx="4343400" cy="2533650"/>
          </a:xfrm>
          <a:prstGeom prst="roundRect">
            <a:avLst>
              <a:gd name="adj" fmla="val 300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7696200" y="1123950"/>
            <a:ext cx="2114550" cy="390525"/>
          </a:xfrm>
          <a:prstGeom prst="roundRect">
            <a:avLst>
              <a:gd name="adj" fmla="val 975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810500" y="1181100"/>
            <a:ext cx="1885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模式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 2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与控制边界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696200" y="1647825"/>
            <a:ext cx="3886200" cy="1009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当前采用「虚拟电角度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电流闭环」，由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MCU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对给定频率积分得到电气角，不使用编码器反馈；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OP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只说明通信进入运行状态，不代表电机已启动或转速已闭环。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696200" y="3009900"/>
            <a:ext cx="3886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它不是编码器速度闭环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7467600" y="3600450"/>
            <a:ext cx="4343400" cy="2533650"/>
          </a:xfrm>
          <a:prstGeom prst="roundRect">
            <a:avLst>
              <a:gd name="adj" fmla="val 300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7696200" y="3810000"/>
            <a:ext cx="2057400" cy="390525"/>
          </a:xfrm>
          <a:prstGeom prst="roundRect">
            <a:avLst>
              <a:gd name="adj" fmla="val 9756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810500" y="3867150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主站与从站的分工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696200" y="4333875"/>
            <a:ext cx="3886200" cy="1009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在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MAIN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写入需求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6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PLC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乘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10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形成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TargetSpeed=60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PDO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输出；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H743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桥接层解析后交给模式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2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策略，换算为电角频率，再由电流环与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PWM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执行。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696200" y="5695950"/>
            <a:ext cx="3886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主站不逐点生成六路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PWM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STM32H743-VOFA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电机控制平台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style={{ width: '1280px', height: '720px', background: '#FFFFFF', padding: 0, fontFamily: 'Microsoft YaHei, SimHei, sans-serif' }}&gt;&#10;    &lt;Box style={{ height: 72, background: '#1E4FA8', flexDirection: 'row', alignItems: 'center', justifyContent: 'space-between', paddingLeft: 40, paddingRight: 40 }}&gt;&#10;        &lt;Text style={{ fontSize: 30, fontWeight: 'bold', color: '#FFFFFF' }}&gt;03 四天推进时间线&lt;/Text&gt;&#10;        &lt;Text style={{ fontSize: 20, color: '#BFD3EE' }}&gt;2026.10.20 — 2026.10.23&lt;/Text&gt;&#10;    &lt;/Box&gt;&#10;    &lt;Box style={{ height: 588, paddingTop: 24, paddingBottom: 16, paddingLeft: 40, paddingRight: 40 }}&gt;&#10;        &lt;Box style={{ flexDirection: 'row', height: 320, gap: 0 }}&gt;&#10;            &lt;Box style={{ width: 282, height: 320, background: '#F7F9FC', border: '1px solid #D6DCE5', borderTop: '6px solid #1E4FA8', borderRadius: 8, paddingTop: 22, paddingBottom: 22, paddingLeft: 22, paddingRight: 22, justifyContent: 'space-between' }}&gt;&#10;                &lt;Box style={{ gap: 14 }}&gt;&#10;                    &lt;Box style={{ background: '#1E4FA8', borderRadius: 20, paddingTop: 6, paddingBottom: 6, paddingLeft: 16, paddingRight: 16, alignSelf: 'flex-start' }}&gt;&#10;                        &lt;Text style={{ fontSize: 20, fontWeight: 'bold', color: '#FFFFFF' }}&gt;10 月 20 日&lt;/Text&gt;&#10;                    &lt;/Box&gt;&#10;                    &lt;Text style={{ fontSize: 24, fontWeight: 'bold', color: '#0E3F8C' }}&gt;打通控制通路&lt;/Text&gt;&#10;                    &lt;Text style={{ fontSize: 20, color: '#4A5568' }}&gt;建立模式 2 的 PLC、PDO 与桥接控制流程，打通主站指令到 H743 的通路。&lt;/Text&gt;&#10;                &lt;/Box&gt;&#10;                &lt;Text style={{ fontSize: 18, color: '#8B97A8' }}&gt;链路建立&lt;/Text&gt;&#10;            &lt;/Box&gt;&#10;            &lt;Box style={{ width: 24, height: 320, alignItems: 'center', justifyContent: 'center' }}&gt;&#10;                &lt;Text style={{ fontSize: 30, color: '#3D7BD9' }}&gt;›&lt;/Text&gt;&#10;            &lt;/Box&gt;&#10;            &lt;Box style={{ width: 282, height: 320, background: '#F7F9FC', border: '1px solid #D6DCE5', borderTop: '6px solid #1E4FA8', borderRadius: 8, paddingTop: 22, paddingBottom: 22, paddingLeft: 22, paddingRight: 22, justifyContent: 'space-between' }}&gt;&#10;                &lt;Box style={{ gap: 14 }}&gt;&#10;                    &lt;Box style={{ background: '#1E4FA8', borderRadius: 20, paddingTop: 6, paddingBottom: 6, paddingLeft: 16, paddingRight: 16, alignSelf: 'flex-start' }}&gt;&#10;                        &lt;Text style={{ fontSize: 20, fontWeight: 'bold', color: '#FFFFFF' }}&gt;10 月 21 日&lt;/Text&gt;&#10;                    &lt;/Box&gt;&#10;                    &lt;Text style={{ fontSize: 24, fontWeight: 'bold', color: '#0E3F8C' }}&gt;修正采样配置&lt;/Text&gt;&#10;                    &lt;Text style={{ fontSize: 20, color: '#4A5568' }}&gt;完善调试观察手段，并把 ADC 完成中断改为序列完成，匹配双通道读取。&lt;/Text&gt;&#10;                &lt;/Box&gt;&#10;                &lt;Text style={{ fontSize: 18, color: '#8B97A8' }}&gt;配置契约&lt;/Text&gt;&#10;            &lt;/Box&gt;&#10;            &lt;Box style={{ width: 24, height: 320, alignItems: 'center', justifyContent: 'center' }}&gt;&#10;                &lt;Text style={{ fontSize: 30, color: '#3D7BD9' }}&gt;›&lt;/Text&gt;&#10;            &lt;/Box&gt;&#10;            &lt;Box style={{ width: 282, height: 320, background: '#F7F9FC', border: '1px solid #D6DCE5', borderTop: '6px solid #1E4FA8', borderRadius: 8, paddingTop: 22, paddingBottom: 22, paddingLeft: 22, paddingRight: 22, justifyContent: 'space-between' }}&gt;&#10;                &lt;Box style={{ gap: 14 }}&gt;&#10;                    &lt;Box style={{ background: '#1E4FA8', borderRadius: 20, paddingTop: 6, paddingBottom: 6, paddingLeft: 16, paddingRight: 16, alignSelf: 'flex-start' }}&gt;&#10;                        &lt;Text style={{ fontSize: 20, fontWeight: 'bold', color: '#FFFFFF' }}&gt;10 月 22 日&lt;/Text&gt;&#10;                    &lt;/Box&gt;&#10;                    &lt;Text style={{ fontSize: 24, fontWeight: 'bold', color: '#0E3F8C' }}&gt;做采样基线&lt;/Text&gt;&#10;                    &lt;Text style={{ fontSize: 20, color: '#4A5568' }}&gt;增加「六路相 PWM 尚未开启」的采样基线对照，隔离功率输出对读数的影响。&lt;/Text&gt;&#10;                &lt;/Box&gt;&#10;                &lt;Text style={{ fontSize: 18, color: '#8B97A8' }}&gt;诊断方法&lt;/Text&gt;&#10;            &lt;/Box&gt;&#10;            &lt;Box style={{ width: 24, height: 320, alignItems: 'center', justifyContent: 'center' }}&gt;&#10;                &lt;Text style={{ fontSize: 30, color: '#3D7BD9' }}&gt;›&lt;/Text&gt;&#10;            &lt;/Box&gt;&#10;            &lt;Box style={{ width: 282, height: 320, background: '#E8EFF8', border: '1px solid #3D7BD9', borderTop: '6px solid #0E3F8C', borderRadius: 8, paddingTop: 22, paddingBottom: 22, paddingLeft: 22, paddingRight: 22, justifyContent: 'space-between' }}&gt;&#10;                &lt;Box style={{ gap: 14 }}&gt;&#10;                    &lt;Box style={{ background: '#0E3F8C', borderRadius: 20, paddingTop: 6, paddingBottom: 6, paddingLeft: 16, paddingRight: 16, alignSelf: 'flex-start' }}&gt;&#10;                        &lt;Text style={{ fontSize: 20, fontWeight: 'bold', color: '#FFFFFF' }}&gt;10 月 23 日&lt;/Text&gt;&#10;                    &lt;/Box&gt;&#10;                    &lt;Text style={{ fontSize: 24, fontWeight: 'bold', color: '#0E3F8C' }}&gt;实机起转&lt;/Text&gt;&#10;                    &lt;Text style={{ fontSize: 20, color: '#4A5568' }}&gt;完成分频对照、恢复旧保护门槛、拆分对齐与运行给定，+6 / +12 均观察到旋转。&lt;/Text&gt;&#10;                &lt;/Box&gt;&#10;                &lt;Text style={{ fontSize: 18, fontWeight: 'bold', color: '#1E4FA8' }}&gt;功能推进&lt;/Text&gt;&#10;            &lt;/Box&gt;&#10;        &lt;/Box&gt;&#10;        &lt;Box style={{ height: 20 }} /&gt;&#10;        &lt;Box style={{ height: 128, background: '#F0F5FC', borderLeft: '6px solid #1E4FA8', borderRadius: 8, paddingTop: 24, paddingBottom: 24, paddingLeft: 32, paddingRight: 32, justifyContent: 'center', gap: 12 }}&gt;&#10;            &lt;Text style={{ fontSize: 24, fontWeight: 'bold', color: '#0E3F8C' }}&gt;时间线的定位&lt;/Text&gt;&#10;            &lt;Text style={{ fontSize: 22, color: '#4A5568' }}&gt;本阶段成果属于一次短时运行的功能演示基础：反向实机验证、转速精度与平滑度验收均未在本轮完成，不写作完整闭环性能结论。&lt;/Text&gt;&#10;        &lt;/Box&gt;&#10;    &lt;/Box&gt;&#10;    &lt;Box style={{ height: 60, flexDirection: 'row', alignItems: 'center', justifyContent: 'space-between', paddingLeft: 40, paddingRight: 40 }}&gt;&#10;        &lt;Text style={{ fontSize: 14, color: '#8B97A8' }}&gt;STM32H743-VOFA 电机控制平台&lt;/Text&gt;&#10;        &lt;Text style={{ fontSize: 16, color: '#1E4FA8' }}&gt;05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81000" y="171450"/>
            <a:ext cx="2438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四天推进时间线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515475" y="228600"/>
            <a:ext cx="2295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2026.10.20 — 2026.10.23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381000" y="971550"/>
            <a:ext cx="2686050" cy="2990850"/>
          </a:xfrm>
          <a:prstGeom prst="roundRect">
            <a:avLst>
              <a:gd name="adj" fmla="val 283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381000" y="971550"/>
            <a:ext cx="2686050" cy="2990850"/>
          </a:xfrm>
          <a:custGeom>
            <a:pathLst>
              <a:path w="282" h="314">
                <a:moveTo>
                  <a:pt x="274" y="0"/>
                </a:moveTo>
                <a:cubicBezTo>
                  <a:pt x="278" y="0"/>
                  <a:pt x="282" y="3"/>
                  <a:pt x="282" y="7"/>
                </a:cubicBezTo>
                <a:cubicBezTo>
                  <a:pt x="282" y="6"/>
                  <a:pt x="281" y="6"/>
                  <a:pt x="280" y="6"/>
                </a:cubicBezTo>
                <a:lnTo>
                  <a:pt x="2" y="6"/>
                </a:lnTo>
                <a:cubicBezTo>
                  <a:pt x="1" y="6"/>
                  <a:pt x="0" y="7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27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590550" y="1181100"/>
            <a:ext cx="1333500" cy="342900"/>
          </a:xfrm>
          <a:prstGeom prst="roundRect">
            <a:avLst>
              <a:gd name="adj" fmla="val 5555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42950" y="1238250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10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20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90550" y="1657350"/>
            <a:ext cx="2266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打通控制通路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90550" y="2066925"/>
            <a:ext cx="22669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建立模式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2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PLC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PDO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与桥接控制流程，打通主站指令到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H743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的通路。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90550" y="3543300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链路建立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133725" y="22669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3D7BD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3295650" y="971550"/>
            <a:ext cx="2686050" cy="2990850"/>
          </a:xfrm>
          <a:prstGeom prst="roundRect">
            <a:avLst>
              <a:gd name="adj" fmla="val 283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3295650" y="971550"/>
            <a:ext cx="2686050" cy="2990850"/>
          </a:xfrm>
          <a:custGeom>
            <a:pathLst>
              <a:path w="282" h="314">
                <a:moveTo>
                  <a:pt x="274" y="0"/>
                </a:moveTo>
                <a:cubicBezTo>
                  <a:pt x="278" y="0"/>
                  <a:pt x="282" y="3"/>
                  <a:pt x="282" y="7"/>
                </a:cubicBezTo>
                <a:cubicBezTo>
                  <a:pt x="282" y="6"/>
                  <a:pt x="281" y="6"/>
                  <a:pt x="280" y="6"/>
                </a:cubicBezTo>
                <a:lnTo>
                  <a:pt x="2" y="6"/>
                </a:lnTo>
                <a:cubicBezTo>
                  <a:pt x="1" y="6"/>
                  <a:pt x="0" y="7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27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3505200" y="1181100"/>
            <a:ext cx="1333500" cy="342900"/>
          </a:xfrm>
          <a:prstGeom prst="roundRect">
            <a:avLst>
              <a:gd name="adj" fmla="val 5555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3657600" y="1238250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10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21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505200" y="1657350"/>
            <a:ext cx="2266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修正采样配置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3505200" y="2066925"/>
            <a:ext cx="22669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完善调试观察手段，并把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ADC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完成中断改为序列完成，匹配双通道读取。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3505200" y="3543300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配置契约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48375" y="22669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3D7BD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210300" y="971550"/>
            <a:ext cx="2686050" cy="2990850"/>
          </a:xfrm>
          <a:prstGeom prst="roundRect">
            <a:avLst>
              <a:gd name="adj" fmla="val 283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6210300" y="971550"/>
            <a:ext cx="2686050" cy="2990850"/>
          </a:xfrm>
          <a:custGeom>
            <a:pathLst>
              <a:path w="282" h="314">
                <a:moveTo>
                  <a:pt x="274" y="0"/>
                </a:moveTo>
                <a:cubicBezTo>
                  <a:pt x="278" y="0"/>
                  <a:pt x="282" y="3"/>
                  <a:pt x="282" y="7"/>
                </a:cubicBezTo>
                <a:cubicBezTo>
                  <a:pt x="282" y="6"/>
                  <a:pt x="281" y="6"/>
                  <a:pt x="280" y="6"/>
                </a:cubicBezTo>
                <a:lnTo>
                  <a:pt x="2" y="6"/>
                </a:lnTo>
                <a:cubicBezTo>
                  <a:pt x="1" y="6"/>
                  <a:pt x="0" y="7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274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6419850" y="1181100"/>
            <a:ext cx="1333500" cy="342900"/>
          </a:xfrm>
          <a:prstGeom prst="roundRect">
            <a:avLst>
              <a:gd name="adj" fmla="val 5555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572250" y="1238250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10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22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419850" y="1657350"/>
            <a:ext cx="2266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做采样基线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419850" y="2066925"/>
            <a:ext cx="226695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增加「六路相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PWM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尚未开启」的采样基线对照，隔离功率输出对读数的影响。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419850" y="3543300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诊断方法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963025" y="22669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3D7BD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9124950" y="971550"/>
            <a:ext cx="2686050" cy="2990850"/>
          </a:xfrm>
          <a:prstGeom prst="roundRect">
            <a:avLst>
              <a:gd name="adj" fmla="val 283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9124950" y="971550"/>
            <a:ext cx="2686050" cy="2990850"/>
          </a:xfrm>
          <a:custGeom>
            <a:pathLst>
              <a:path w="282" h="314">
                <a:moveTo>
                  <a:pt x="274" y="0"/>
                </a:moveTo>
                <a:cubicBezTo>
                  <a:pt x="278" y="0"/>
                  <a:pt x="282" y="3"/>
                  <a:pt x="282" y="7"/>
                </a:cubicBezTo>
                <a:cubicBezTo>
                  <a:pt x="282" y="6"/>
                  <a:pt x="281" y="6"/>
                  <a:pt x="280" y="6"/>
                </a:cubicBezTo>
                <a:lnTo>
                  <a:pt x="2" y="6"/>
                </a:lnTo>
                <a:cubicBezTo>
                  <a:pt x="1" y="6"/>
                  <a:pt x="0" y="7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274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9334500" y="1181100"/>
            <a:ext cx="1333500" cy="342900"/>
          </a:xfrm>
          <a:prstGeom prst="roundRect">
            <a:avLst>
              <a:gd name="adj" fmla="val 5555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486900" y="1238250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10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23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334500" y="1657350"/>
            <a:ext cx="22669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实机起转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9334500" y="2066925"/>
            <a:ext cx="226695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完成分频对照、恢复旧保护门槛、拆分对齐与运行给定，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+6 / +12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均观察到旋转。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334500" y="3543300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功能推进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438150" y="4152900"/>
            <a:ext cx="11430000" cy="1219200"/>
          </a:xfrm>
          <a:prstGeom prst="roundRect">
            <a:avLst>
              <a:gd name="adj" fmla="val 625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438150" y="4152900"/>
            <a:ext cx="11430000" cy="1219200"/>
          </a:xfrm>
          <a:custGeom>
            <a:pathLst>
              <a:path w="1200" h="128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26"/>
                </a:lnTo>
                <a:cubicBezTo>
                  <a:pt x="6" y="127"/>
                  <a:pt x="7" y="128"/>
                  <a:pt x="8" y="128"/>
                </a:cubicBezTo>
                <a:cubicBezTo>
                  <a:pt x="3" y="128"/>
                  <a:pt x="0" y="124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42950" y="4314825"/>
            <a:ext cx="10763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时间线的定位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42950" y="4705350"/>
            <a:ext cx="107632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本阶段成果属于一次短时运行的功能演示基础：反向实机验证、转速精度与平滑度验收均未在本轮完成，不写作完整闭环性能结论。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STM32H743-VOFA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电机控制平台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82" name="" descr="&lt;Slide style={{ width: '1280px', height: '720px', background: '#FFFFFF', padding: 0, fontFamily: 'Microsoft YaHei, SimHei, sans-serif' }}&gt;&#10;    &lt;Box style={{ height: 72, background: '#1E4FA8', flexDirection: 'row', alignItems: 'center', justifyContent: 'space-between', paddingLeft: 40, paddingRight: 40 }}&gt;&#10;        &lt;Text style={{ fontSize: 30, fontWeight: 'bold', color: '#FFFFFF' }}&gt;04 关键问题与排查（一）&lt;/Text&gt;&#10;        &lt;Text style={{ fontSize: 20, color: '#BFD3EE' }}&gt;通信状态 · 故障锁存 · 采样配置&lt;/Text&gt;&#10;    &lt;/Box&gt;&#10;    &lt;Box style={{ height: 588, paddingTop: 24, paddingBottom: 16, paddingLeft: 40, paddingRight: 40 }}&gt;&#10;        &lt;Box style={{ height: 46, background: '#F0F5FC', borderLeft: '6px solid #1E4FA8', paddingLeft: 22, paddingRight: 22, justifyContent: 'center' }}&gt;&#10;            &lt;Text style={{ fontSize: 21, color: '#1A2230' }}&gt;三个问题都不是「换个参数就好」，而是把联调操作、状态机语义与配置契约各自理顺&lt;/Text&gt;&#10;        &lt;/Box&gt;&#10;        &lt;Box style={{ height: 8 }} /&gt;&#10;        &lt;Box style={{ flexDirection: 'row', height: 440, gap: 24 }}&gt;&#10;            &lt;Box style={{ width: 384, height: 440, background: '#F7F9FC', border: '1px solid #D6DCE5', borderRadius: 8, paddingTop: 22, paddingBottom: 22, paddingLeft: 22, paddingRight: 22, justifyContent: 'space-between' }}&gt;&#10;                &lt;Box style={{ gap: 14 }}&gt;&#10;                    &lt;Box style={{ flexDirection: 'row', alignItems: 'center', gap: 12 }}&gt;&#10;                        &lt;Box style={{ width: 44, height: 44, background: '#1E4FA8', borderRadius: 8, alignItems: 'center', justifyContent: 'center' }}&gt;&#10;                            &lt;Text style={{ fontSize: 22, fontWeight: 'bold', color: '#FFFFFF' }}&gt;1&lt;/Text&gt;&#10;                        &lt;/Box&gt;&#10;                        &lt;Text style={{ fontSize: 24, fontWeight: 'bold', color: '#0E3F8C' }}&gt;无法进入或意外退出 OP&lt;/Text&gt;&#10;                    &lt;/Box&gt;&#10;                    &lt;Text style={{ fontSize: 18, fontWeight: 'bold', color: '#D9534F' }}&gt;现象&lt;/Text&gt;&#10;                    &lt;Text style={{ fontSize: 20, color: '#4A5568' }}&gt;进入 Debug、复位或暂停后，TwinCAT 出现 INIT 到 PREOP 超时，或从 OP 异常退回 INIT。&lt;/Text&gt;&#10;                    &lt;Text style={{ fontSize: 18, fontWeight: 'bold', color: '#1E4FA8' }}&gt;定位与处置&lt;/Text&gt;&#10;                    &lt;Text style={{ fontSize: 20, color: '#4A5568' }}&gt;结合 Keil 运行状态与 uwTick 核对，区分「MCU 停止服务」与持续通信故障；固定为先让 MCU 连续运行再恢复 OP。&lt;/Text&gt;&#10;                &lt;/Box&gt;&#10;                &lt;Text style={{ fontSize: 19, fontWeight: 'bold', color: '#0E3F8C' }}&gt;解决的是操作干扰，不等于长期通信稳定性已验证&lt;/Text&gt;&#10;            &lt;/Box&gt;&#10;            &lt;Box style={{ width: 384, height: 440, background: '#F7F9FC', border: '1px solid #D6DCE5', borderRadius: 8, paddingTop: 22, paddingBottom: 22, paddingLeft: 22, paddingRight: 22, justifyContent: 'space-between' }}&gt;&#10;                &lt;Box style={{ gap: 14 }}&gt;&#10;                    &lt;Box style={{ flexDirection: 'row', alignItems: 'center', gap: 12 }}&gt;&#10;                        &lt;Box style={{ width: 44, height: 44, background: '#1E4FA8', borderRadius: 8, alignItems: 'center', justifyContent: 'center' }}&gt;&#10;                            &lt;Text style={{ fontSize: 22, fontWeight: 'bold', color: '#FFFFFF' }}&gt;2&lt;/Text&gt;&#10;                        &lt;/Box&gt;&#10;                        &lt;Text style={{ fontSize: 24, fontWeight: 'bold', color: '#0E3F8C' }}&gt;通信恢复后 nPhase 仍为 90&lt;/Text&gt;&#10;                    &lt;/Box&gt;&#10;                    &lt;Text style={{ fontSize: 18, fontWeight: 'bold', color: '#D9534F' }}&gt;现象&lt;/Text&gt;&#10;                    &lt;Text style={{ fontSize: 20, color: '#4A5568' }}&gt;State=8、WcState=FALSE、bHealthy 已 TRUE，但 nPhase=90、bLocalFault=TRUE，电机仍不能启动。&lt;/Text&gt;&#10;                    &lt;Text style={{ fontSize: 18, fontWeight: 'bold', color: '#1E4FA8' }}&gt;定位与处置&lt;/Text&gt;&#10;                    &lt;Text style={{ fontSize: 20, color: '#4A5568' }}&gt;阅读状态机确认 90 是故障锁存，不是通信恢复后自动待机；复位需 bStart=FALSE 且 bReset 产生新上升沿。&lt;/Text&gt;&#10;                &lt;/Box&gt;&#10;                &lt;Text style={{ fontSize: 19, fontWeight: 'bold', color: '#D9534F' }}&gt;禁止强写 nPhase=0 或强制映射输出绕过状态机&lt;/Text&gt;&#10;            &lt;/Box&gt;&#10;            &lt;Box style={{ width: 384, height: 440, background: '#F7F9FC', border: '1px solid #D6DCE5', borderRadius: 8, paddingTop: 22, paddingBottom: 22, paddingLeft: 22, paddingRight: 22, justifyContent: 'space-between' }}&gt;&#10;                &lt;Box style={{ gap: 14 }}&gt;&#10;                    &lt;Box style={{ flexDirection: 'row', alignItems: 'center', gap: 12 }}&gt;&#10;                        &lt;Box style={{ width: 44, height: 44, background: '#1E4FA8', borderRadius: 8, alignItems: 'center', justifyContent: 'center' }}&gt;&#10;                            &lt;Text style={{ fontSize: 22, fontWeight: 'bold', color: '#FFFFFF' }}&gt;3&lt;/Text&gt;&#10;                        &lt;/Box&gt;&#10;                        &lt;Text style={{ fontSize: 24, fontWeight: 'bold', color: '#0E3F8C' }}&gt;ADC 完成中断与读取不匹配&lt;/Text&gt;&#10;                    &lt;/Box&gt;&#10;                    &lt;Text style={{ fontSize: 18, fontWeight: 'bold', color: '#D9534F' }}&gt;现象&lt;/Text&gt;&#10;                    &lt;Text style={{ fontSize: 20, color: '#4A5568' }}&gt;电流回调需同时读取 JDR1、JDR2，原 EOCSelection 却是 SINGLE_CONV。&lt;/Text&gt;&#10;                    &lt;Text style={{ fontSize: 18, fontWeight: 'bold', color: '#1E4FA8' }}&gt;定位与处置&lt;/Text&gt;&#10;                    &lt;Text style={{ fontSize: 20, color: '#4A5568' }}&gt;该设置与「序列结束后再读取」不一致；改为 SEQ_CONV 以 JEOS 为依据，通道、rank 与触发源不变。&lt;/Text&gt;&#10;                &lt;/Box&gt;&#10;                &lt;Text style={{ fontSize: 19, fontWeight: 'bold', color: '#0E3F8C' }}&gt;只证明配置与意图一致，未证明采样准确&lt;/Text&gt;&#10;            &lt;/Box&gt;&#10;        &lt;/Box&gt;&#10;        &lt;Box style={{ height: 8 }} /&gt;&#10;        &lt;Box style={{ height: 46, background: '#0E3F8C', borderRadius: 8, paddingLeft: 28, paddingRight: 28, justifyContent: 'center' }}&gt;&#10;            &lt;Text style={{ fontSize: 21, fontWeight: 'bold', color: '#FFFFFF' }}&gt;共同点：通信健康（bHealthy）与应用已准备好（bLocalFault）必须分别检查，不能互相替代&lt;/Text&gt;&#10;        &lt;/Box&gt;&#10;    &lt;/Box&gt;&#10;    &lt;Box style={{ height: 60, flexDirection: 'row', alignItems: 'center', justifyContent: 'space-between', paddingLeft: 40, paddingRight: 40 }}&gt;&#10;        &lt;Text style={{ fontSize: 14, color: '#8B97A8' }}&gt;STM32H743-VOFA 电机控制平台&lt;/Text&gt;&#10;        &lt;Text style={{ fontSize: 16, color: '#1E4FA8' }}&gt;06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81000" y="171450"/>
            <a:ext cx="3295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04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关键问题与排查（一）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9201150" y="228600"/>
            <a:ext cx="2609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通信状态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故障锁存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采样配置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38150" y="914400"/>
            <a:ext cx="11430000" cy="4381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381000" y="914400"/>
            <a:ext cx="11487150" cy="438150"/>
          </a:xfrm>
          <a:custGeom>
            <a:pathLst>
              <a:path w="1206" h="46">
                <a:moveTo>
                  <a:pt x="0" y="0"/>
                </a:moveTo>
                <a:lnTo>
                  <a:pt x="6" y="0"/>
                </a:lnTo>
                <a:lnTo>
                  <a:pt x="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47700" y="1009650"/>
            <a:ext cx="10953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三个问题都不是「换个参数就好」，而是把联调操作、状态机语义与配置契约各自理顺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381000" y="1428750"/>
            <a:ext cx="3657600" cy="4191000"/>
          </a:xfrm>
          <a:prstGeom prst="roundRect">
            <a:avLst>
              <a:gd name="adj" fmla="val 208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590550" y="1638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33425" y="172402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2466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无法进入或意外退出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 OP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90550" y="219075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现象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90550" y="2533650"/>
            <a:ext cx="3238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进入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Debug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、复位或暂停后，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TwinCAT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出现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INIT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到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PREOP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超时，或从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OP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异常退回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INIT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90550" y="33528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定位与处置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90550" y="3695700"/>
            <a:ext cx="32385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结合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Keil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运行状态与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uwTick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核对，区分「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MCU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停止服务」与持续通信故障；固定为先让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MCU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连续运行再恢复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OP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90550" y="4972050"/>
            <a:ext cx="3238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解决的是操作干扰，不等于长期通信稳定性已验证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4267200" y="1428750"/>
            <a:ext cx="3657600" cy="4191000"/>
          </a:xfrm>
          <a:prstGeom prst="roundRect">
            <a:avLst>
              <a:gd name="adj" fmla="val 208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4476750" y="1638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619625" y="172402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981575" y="1714500"/>
            <a:ext cx="27336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通信恢复后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 nPhase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仍为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 90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476750" y="219075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现象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476750" y="2533650"/>
            <a:ext cx="32385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State=8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WcState=FALSE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bHealthy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已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TRUE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，但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nPhase=90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bLocalFault=TRUE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，电机仍不能启动。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476750" y="35814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定位与处置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476750" y="3924300"/>
            <a:ext cx="32385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阅读状态机确认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90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是故障锁存，不是通信恢复后自动待机；复位需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bStart=FALSE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且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bReset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产生新上升沿。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476750" y="4972050"/>
            <a:ext cx="3238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禁止强写</a:t>
            </a: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 nPhase=0 </a:t>
            </a: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或强制映射输出绕过状态机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8153400" y="1428750"/>
            <a:ext cx="3657600" cy="4191000"/>
          </a:xfrm>
          <a:prstGeom prst="roundRect">
            <a:avLst>
              <a:gd name="adj" fmla="val 208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8362950" y="1638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505825" y="172402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877300" y="1714500"/>
            <a:ext cx="27241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ADC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完成中断与读取不匹配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362950" y="219075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现象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362950" y="2533650"/>
            <a:ext cx="3238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电流回调需同时读取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JDR1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JDR2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，原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EOCSelection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却是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SINGLE_CONV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362950" y="33528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定位与处置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362950" y="3695700"/>
            <a:ext cx="3238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该设置与「序列结束后再读取」不一致；改为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SEQ_CONV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以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JEOS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为依据，通道、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rank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与触发源不变。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362950" y="4972050"/>
            <a:ext cx="3238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只证明配置与意图一致，未证明采样准确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381000" y="5695950"/>
            <a:ext cx="11430000" cy="438150"/>
          </a:xfrm>
          <a:prstGeom prst="roundRect">
            <a:avLst>
              <a:gd name="adj" fmla="val 173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47700" y="5791200"/>
            <a:ext cx="10896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共同点：通信健康（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bHealthy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）与应用已准备好（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bLocalFault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）必须分别检查，不能互相替代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STM32H743-VOFA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电机控制平台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21" name="" descr="&lt;Slide style={{ width: '1280px', height: '720px', background: '#FFFFFF', padding: 0, fontFamily: 'Microsoft YaHei, SimHei, sans-serif' }}&gt;&#10;    &lt;Box style={{ height: 72, background: '#1E4FA8', flexDirection: 'row', alignItems: 'center', justifyContent: 'space-between', paddingLeft: 40, paddingRight: 40 }}&gt;&#10;        &lt;Text style={{ fontSize: 30, fontWeight: 'bold', color: '#FFFFFF' }}&gt;04 关键问题与排查（二）&lt;/Text&gt;&#10;        &lt;Text style={{ fontSize: 20, color: '#BFD3EE' }}&gt;电流保护 · 起动工况 · 运行时限&lt;/Text&gt;&#10;    &lt;/Box&gt;&#10;    &lt;Box style={{ height: 588, paddingTop: 24, paddingBottom: 16, paddingLeft: 40, paddingRight: 40 }}&gt;&#10;        &lt;Box style={{ height: 46, background: '#F0F5FC', borderLeft: '6px solid #1E4FA8', paddingLeft: 22, paddingRight: 22, justifyContent: 'center' }}&gt;&#10;            &lt;Text style={{ fontSize: 21, color: '#1A2230' }}&gt;后三个问题都做了对照实验：先隔离变量，再决定是修参数还是保留问题&lt;/Text&gt;&#10;        &lt;/Box&gt;&#10;        &lt;Box style={{ height: 8 }} /&gt;&#10;        &lt;Box style={{ flexDirection: 'row', height: 440, gap: 24 }}&gt;&#10;            &lt;Box style={{ width: 700, height: '100%', gap: 16 }}&gt;&#10;                &lt;Box style={{ flex: 1, background: '#F7F9FC', border: '1px solid #D6DCE5', borderLeft: '6px solid #1E4FA8', borderRadius: 8, paddingTop: 16, paddingBottom: 16, paddingLeft: 22, paddingRight: 22, gap: 8 }}&gt;&#10;                    &lt;Box style={{ flexDirection: 'row', alignItems: 'center', gap: 12 }}&gt;&#10;                        &lt;Box style={{ width: 40, height: 40, background: '#1E4FA8', borderRadius: 8, alignItems: 'center', justifyContent: 'center' }}&gt;&#10;                            &lt;Text style={{ fontSize: 20, fontWeight: 'bold', color: '#FFFFFF' }}&gt;4&lt;/Text&gt;&#10;                        &lt;/Box&gt;&#10;                        &lt;Text style={{ fontSize: 23, fontWeight: 'bold', color: '#0E3F8C' }}&gt;启动后触发电流保护及异常读数&lt;/Text&gt;&#10;                    &lt;/Box&gt;&#10;                    &lt;Text style={{ fontSize: 19, color: '#4A5568' }}&gt;出现 MotorFault=7、BridgeFault=8；未接电机也观察到换算电流尖峰。增加 RAM 冻结记录与 DRV8323 启动寄存器读回。&lt;/Text&gt;&#10;                &lt;/Box&gt;&#10;                &lt;Box style={{ flex: 1, background: '#F7F9FC', border: '1px solid #D6DCE5', borderLeft: '6px solid #1E4FA8', borderRadius: 8, paddingTop: 16, paddingBottom: 16, paddingLeft: 22, paddingRight: 22, gap: 8 }}&gt;&#10;                    &lt;Box style={{ flexDirection: 'row', alignItems: 'center', gap: 12 }}&gt;&#10;                        &lt;Box style={{ width: 40, height: 40, background: '#1E4FA8', borderRadius: 8, alignItems: 'center', justifyContent: 'center' }}&gt;&#10;                            &lt;Text style={{ fontSize: 20, fontWeight: 'bold', color: '#FFFFFF' }}&gt;5&lt;/Text&gt;&#10;                        &lt;/Box&gt;&#10;                        &lt;Text style={{ fontSize: 23, fontWeight: 'bold', color: '#0E3F8C' }}&gt;通电但不转或左右振动&lt;/Text&gt;&#10;                    &lt;/Box&gt;&#10;                    &lt;Text style={{ fontSize: 19, color: '#4A5568' }}&gt;新增独立对齐参数 0.5 A，控制策略与电流环两处对齐给定都用它；运行仍为 0.8 A，+6 / +12 下随后观察到旋转。&lt;/Text&gt;&#10;                &lt;/Box&gt;&#10;                &lt;Box style={{ flex: 1, background: '#F7F9FC', border: '1px solid #D6DCE5', borderLeft: '6px solid #1E4FA8', borderRadius: 8, paddingTop: 16, paddingBottom: 16, paddingLeft: 22, paddingRight: 22, gap: 8 }}&gt;&#10;                    &lt;Box style={{ flexDirection: 'row', alignItems: 'center', gap: 12 }}&gt;&#10;                        &lt;Box style={{ width: 40, height: 40, background: '#1E4FA8', borderRadius: 8, alignItems: 'center', justifyContent: 'center' }}&gt;&#10;                            &lt;Text style={{ fontSize: 20, fontWeight: 'bold', color: '#FFFFFF' }}&gt;6&lt;/Text&gt;&#10;                        &lt;/Box&gt;&#10;                        &lt;Text style={{ fontSize: 23, fontWeight: 'bold', color: '#0E3F8C' }}&gt;能转但运行时间过短&lt;/Text&gt;&#10;                    &lt;/Box&gt;&#10;                    &lt;Text style={{ fontSize: 19, color: '#4A5568' }}&gt;BridgeFault=12 经代码确认是运行时限关断；运动由 3 秒改 6 秒、会话由 5 秒改 10 秒，并让看门狗共用配置。&lt;/Text&gt;&#10;                &lt;/Box&gt;&#10;            &lt;/Box&gt;&#10;            &lt;Box style={{ width: 476, height: '100%', gap: 16 }}&gt;&#10;                &lt;Box style={{ height: 252, background: '#FFFFFF', border: '1px solid #D6DCE5', borderRadius: 8, paddingTop: 16, paddingBottom: 16, paddingLeft: 16, paddingRight: 16, gap: 10 }}&gt;&#10;                    &lt;Text style={{ fontSize: 21, fontWeight: 'bold', color: '#0E3F8C' }}&gt;无相 PWM 基线的分频对照&lt;/Text&gt;&#10;                    &lt;Table&#10;                        style={{ width: '100%', height: 146 }}&#10;                        defaultTextStyle={{ fontSize: 16, textAlign: 'center', color: '#1A2230' }}&#10;                        defaultCellStyle={{ border: { left: { width: 1, color: '#D6DCE5' }, right: { width: 1, color: '#D6DCE5' }, top: { width: 1, color: '#D6DCE5' }, bottom: { width: 1, color: '#D6DCE5' } } }}&#10;                        cells={[&#10;                            [&#10;                                { text: '基线', textStyle: { bold: true, color: '#FFFFFF' }, cellStyle: { background: { color: '#1E4FA8' } } },&#10;                                { text: '超 0.6 A 样本', textStyle: { bold: true, color: '#FFFFFF' }, cellStyle: { background: { color: '#1E4FA8' } } },&#10;                                { text: '换算相电流峰值', textStyle: { bold: true, color: '#FFFFFF' }, cellStyle: { background: { color: '#1E4FA8' } } },&#10;                            ],&#10;                            ['DIV1', '158 次（15.83%）', '约 1.795 A'],&#10;                            [&#10;                                { text: 'DIV2', cellStyle: { background: { color: '#F7F9FC' } } },&#10;                                { text: '105 次（10.52%）', cellStyle: { background: { color: '#F7F9FC' } } },&#10;                                { text: '约 1.900 A', cellStyle: { background: { color: '#F7F9FC' } } },&#10;                            ],&#10;                        ]}&#10;                    /&gt;&#10;                    &lt;Text style={{ fontSize: 15, color: '#8B97A8' }}&gt;两组均为 998 个样本，取自相 PWM 未开启的基线窗口&lt;/Text&gt;&#10;                &lt;/Box&gt;&#10;                &lt;Box style={{ height: 172, background: '#F0F5FC', border: '1px solid #D6DCE5', borderRadius: 8, paddingTop: 18, paddingBottom: 18, paddingLeft: 20, paddingRight: 20, gap: 12 }}&gt;&#10;                    &lt;Text style={{ fontSize: 21, fontWeight: 'bold', color: '#0E3F8C' }}&gt;判断与取舍&lt;/Text&gt;&#10;                    &lt;Text style={{ fontSize: 19, color: '#4A5568' }}&gt;对照没有证明异常已消除，换算峰值也不等同于真实绕组电流。恢复旧「任一相超过 10 A 连续两次」保护，0.6 A 仅作诊断门槛。&lt;/Text&gt;&#10;                &lt;/Box&gt;&#10;            &lt;/Box&gt;&#10;        &lt;/Box&gt;&#10;        &lt;Box style={{ height: 8 }} /&gt;&#10;        &lt;Box style={{ height: 46, background: '#0E3F8C', borderRadius: 8, paddingLeft: 28, paddingRight: 28, justifyContent: 'center' }}&gt;&#10;            &lt;Text style={{ fontSize: 21, fontWeight: 'bold', color: '#FFFFFF' }}&gt;采样准确性、真实相电流与保护有效性继续保留待查，本轮不宣称已修复&lt;/Text&gt;&#10;        &lt;/Box&gt;&#10;    &lt;/Box&gt;&#10;    &lt;Box style={{ height: 60, flexDirection: 'row', alignItems: 'center', justifyContent: 'space-between', paddingLeft: 40, paddingRight: 40 }}&gt;&#10;        &lt;Text style={{ fontSize: 14, color: '#8B97A8' }}&gt;STM32H743-VOFA 电机控制平台&lt;/Text&gt;&#10;        &lt;Text style={{ fontSize: 16, color: '#1E4FA8' }}&gt;07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381000" y="171450"/>
            <a:ext cx="3295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04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关键问题与排查（二）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9201150" y="228600"/>
            <a:ext cx="2609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电流保护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起动工况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运行时限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438150" y="914400"/>
            <a:ext cx="11430000" cy="4381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381000" y="914400"/>
            <a:ext cx="11487150" cy="438150"/>
          </a:xfrm>
          <a:custGeom>
            <a:pathLst>
              <a:path w="1206" h="46">
                <a:moveTo>
                  <a:pt x="0" y="0"/>
                </a:moveTo>
                <a:lnTo>
                  <a:pt x="6" y="0"/>
                </a:lnTo>
                <a:lnTo>
                  <a:pt x="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47700" y="1009650"/>
            <a:ext cx="10953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后三个问题都做了对照实验：先隔离变量，再决定是修参数还是保留问题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438150" y="1428750"/>
            <a:ext cx="6667500" cy="129540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438150" y="1428750"/>
            <a:ext cx="6667500" cy="1295400"/>
          </a:xfrm>
          <a:custGeom>
            <a:pathLst>
              <a:path w="700" h="136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34"/>
                </a:lnTo>
                <a:cubicBezTo>
                  <a:pt x="6" y="135"/>
                  <a:pt x="7" y="136"/>
                  <a:pt x="8" y="136"/>
                </a:cubicBezTo>
                <a:cubicBezTo>
                  <a:pt x="3" y="136"/>
                  <a:pt x="0" y="132"/>
                  <a:pt x="0" y="128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647700" y="15811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81050" y="16573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43000" y="1638300"/>
            <a:ext cx="30670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启动后触发电流保护及异常读数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47700" y="2038350"/>
            <a:ext cx="61912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出现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MotorFault=7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BridgeFault=8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；未接电机也观察到换算电流尖峰。增加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RAM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冻结记录与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DRV8323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启动寄存器读回。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438150" y="2876550"/>
            <a:ext cx="6667500" cy="129540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438150" y="2876550"/>
            <a:ext cx="6667500" cy="1295400"/>
          </a:xfrm>
          <a:custGeom>
            <a:pathLst>
              <a:path w="700" h="136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34"/>
                </a:lnTo>
                <a:cubicBezTo>
                  <a:pt x="6" y="135"/>
                  <a:pt x="7" y="136"/>
                  <a:pt x="8" y="136"/>
                </a:cubicBezTo>
                <a:cubicBezTo>
                  <a:pt x="3" y="136"/>
                  <a:pt x="0" y="132"/>
                  <a:pt x="0" y="128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47700" y="30289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81050" y="31051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43000" y="3086100"/>
            <a:ext cx="2190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通电但不转或左右振动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47700" y="3486150"/>
            <a:ext cx="61912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新增独立对齐参数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0.5 A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，控制策略与电流环两处对齐给定都用它；运行仍为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0.8 A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+6 / +12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下随后观察到旋转。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438150" y="4324350"/>
            <a:ext cx="6667500" cy="129540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438150" y="4324350"/>
            <a:ext cx="6667500" cy="1295400"/>
          </a:xfrm>
          <a:custGeom>
            <a:pathLst>
              <a:path w="700" h="136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34"/>
                </a:lnTo>
                <a:cubicBezTo>
                  <a:pt x="6" y="135"/>
                  <a:pt x="7" y="136"/>
                  <a:pt x="8" y="136"/>
                </a:cubicBezTo>
                <a:cubicBezTo>
                  <a:pt x="3" y="136"/>
                  <a:pt x="0" y="132"/>
                  <a:pt x="0" y="128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647700" y="44767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81050" y="45529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43000" y="4533900"/>
            <a:ext cx="197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能转但运行时间过短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47700" y="4933950"/>
            <a:ext cx="61912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BridgeFault=12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经代码确认是运行时限关断；运动由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秒改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6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秒、会话由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5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秒改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10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秒，并让看门狗共用配置。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7277100" y="1428750"/>
            <a:ext cx="4533900" cy="24003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429500" y="1581150"/>
            <a:ext cx="4229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无相</a:t>
            </a:r>
            <a:r>
              <a:rPr lang="en-US" sz="1575" b="1">
                <a:solidFill>
                  <a:srgbClr val="0E3F8C"/>
                </a:solidFill>
                <a:latin typeface="Microsoft YaHei"/>
                <a:ea typeface="Microsoft YaHei"/>
              </a:rPr>
              <a:t> PWM </a:t>
            </a: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基线的分频对照</a:t>
            </a:r>
            <a:endParaRPr/>
          </a:p>
        </p:txBody>
      </p:sp>
      <p:graphicFrame>
        <p:nvGraphicFramePr>
          <p:cNvPr id="249" name=""/>
          <p:cNvGraphicFramePr/>
          <p:nvPr/>
        </p:nvGraphicFramePr>
        <p:xfrm rot="0" flipH="0" flipV="0">
          <a:off x="7429500" y="1924050"/>
          <a:ext cx="4229100" cy="1390650"/>
        </p:xfrm>
        <a:graphic>
          <a:graphicData uri="http://schemas.openxmlformats.org/drawingml/2006/table">
            <a:tbl>
              <a:tblGrid>
                <a:gridCol w="637445">
                  <a:extLst>
                    <a:ext uri="{9D8B030D-6E8A-4147-A177-3AD203B41FA5}">
                      <a16:colId val="1"/>
                    </a:ext>
                  </a:extLst>
                </a:gridCol>
                <a:gridCol w="1963224">
                  <a:extLst>
                    <a:ext uri="{9D8B030D-6E8A-4147-A177-3AD203B41FA5}">
                      <a16:colId val="2"/>
                    </a:ext>
                  </a:extLst>
                </a:gridCol>
                <a:gridCol w="1628431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635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基线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超 0.6 A 样本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换算相电流峰值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635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DIV1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158 次（15.83%）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约 1.795 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635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DIV2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105 次（10.52%）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约 1.900 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</a:tbl>
          </a:graphicData>
        </a:graphic>
      </p:graphicFrame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429500" y="3409950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两组均为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998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个样本，取自相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PWM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未开启的基线窗口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7277100" y="3981450"/>
            <a:ext cx="4533900" cy="1638300"/>
          </a:xfrm>
          <a:prstGeom prst="roundRect">
            <a:avLst>
              <a:gd name="adj" fmla="val 465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467600" y="4152900"/>
            <a:ext cx="4152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判断与取舍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467600" y="4514850"/>
            <a:ext cx="41529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对照没有证明异常已消除，换算峰值也不等同于真实绕组电流。恢复旧「任一相超过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10 A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连续两次」保护，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0.6 A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仅作诊断门槛。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381000" y="5695950"/>
            <a:ext cx="11430000" cy="438150"/>
          </a:xfrm>
          <a:prstGeom prst="roundRect">
            <a:avLst>
              <a:gd name="adj" fmla="val 173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47700" y="5791200"/>
            <a:ext cx="10896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采样准确性、真实相电流与保护有效性继续保留待查，本轮不宣称已修复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STM32H743-VOFA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电机控制平台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58" name="" descr="&lt;Slide style={{ width: '1280px', height: '720px', background: '#FFFFFF', padding: 0, fontFamily: 'Microsoft YaHei, SimHei, sans-serif' }}&gt;&#10;    &lt;Box style={{ height: 72, background: '#1E4FA8', flexDirection: 'row', alignItems: 'center', justifyContent: 'space-between', paddingLeft: 40, paddingRight: 40 }}&gt;&#10;        &lt;Text style={{ fontSize: 30, fontWeight: 'bold', color: '#FFFFFF' }}&gt;05 TwinCAT 控制电机的操作流程&lt;/Text&gt;&#10;        &lt;Text style={{ fontSize: 20, color: '#BFD3EE' }}&gt;模式 2 短时空载验证&lt;/Text&gt;&#10;    &lt;/Box&gt;&#10;    &lt;Box style={{ height: 588, paddingTop: 24, paddingBottom: 16, paddingLeft: 40, paddingRight: 40 }}&gt;&#10;        &lt;Box style={{ height: 46, background: '#F0F5FC', borderLeft: '6px solid #1E4FA8', paddingLeft: 22, paddingRight: 22, justifyContent: 'center' }}&gt;&#10;            &lt;Text style={{ fontSize: 21, color: '#1A2230' }}&gt;七步顺序不可颠倒：先让 MCU 连续运行再动主站，先预置速度再发启动边沿&lt;/Text&gt;&#10;        &lt;/Box&gt;&#10;        &lt;Box style={{ height: 16 }} /&gt;&#10;        &lt;Box style={{ flexDirection: 'row', height: 212, gap: 16 }}&gt;&#10;            &lt;Box style={{ width: 288, height: 212, background: '#F7F9FC', border: '1px solid #D6DCE5', borderTop: '6px solid #1E4FA8', borderRadius: 8, paddingTop: 18, paddingBottom: 18, paddingLeft: 18, paddingRight: 18, gap: 10 }}&gt;&#10;                &lt;Box style={{ width: 36, height: 36, background: '#1E4FA8', borderRadius: 18, alignItems: 'center', justifyContent: 'center' }}&gt;&#10;                    &lt;Text style={{ fontSize: 20, fontWeight: 'bold', color: '#FFFFFF' }}&gt;1&lt;/Text&gt;&#10;                &lt;/Box&gt;&#10;                &lt;Text style={{ fontSize: 22, fontWeight: 'bold', color: '#0E3F8C' }}&gt;检查接线与条件&lt;/Text&gt;&#10;                &lt;Text style={{ fontSize: 19, color: '#4A5568' }}&gt;24 V 供电限流 1 A，抱闸接 12 V；拆接线须断电，下载前先断开 U/V/W。&lt;/Text&gt;&#10;            &lt;/Box&gt;&#10;            &lt;Box style={{ width: 288, height: 212, background: '#F7F9FC', border: '1px solid #D6DCE5', borderTop: '6px solid #1E4FA8', borderRadius: 8, paddingTop: 18, paddingBottom: 18, paddingLeft: 18, paddingRight: 18, gap: 10 }}&gt;&#10;                &lt;Box style={{ width: 36, height: 36, background: '#1E4FA8', borderRadius: 18, alignItems: 'center', justifyContent: 'center' }}&gt;&#10;                    &lt;Text style={{ fontSize: 20, fontWeight: 'bold', color: '#FFFFFF' }}&gt;2&lt;/Text&gt;&#10;                &lt;/Box&gt;&#10;                &lt;Text style={{ fontSize: 22, fontWeight: 'bold', color: '#0E3F8C' }}&gt;下载并连续运行&lt;/Text&gt;&#10;                &lt;Text style={{ fontSize: 19, color: '#4A5568' }}&gt;Keil 下载同名 AXF 后 Run(F5)，在 Watch 中确认 uwTick 持续增长。&lt;/Text&gt;&#10;            &lt;/Box&gt;&#10;            &lt;Box style={{ width: 288, height: 212, background: '#F7F9FC', border: '1px solid #D6DCE5', borderTop: '6px solid #1E4FA8', borderRadius: 8, paddingTop: 18, paddingBottom: 18, paddingLeft: 18, paddingRight: 18, gap: 10 }}&gt;&#10;                &lt;Box style={{ width: 36, height: 36, background: '#1E4FA8', borderRadius: 18, alignItems: 'center', justifyContent: 'center' }}&gt;&#10;                    &lt;Text style={{ fontSize: 20, fontWeight: 'bold', color: '#FFFFFF' }}&gt;3&lt;/Text&gt;&#10;                &lt;/Box&gt;&#10;                &lt;Text style={{ fontSize: 22, fontWeight: 'bold', color: '#0E3F8C' }}&gt;进入 OP 并运行 PLC&lt;/Text&gt;&#10;                &lt;Text style={{ fontSize: 19, color: '#4A5568' }}&gt;Box 1 的 Online 页请求 OP，PLC 登录运行，确认 State=8、WcState=FALSE。&lt;/Text&gt;&#10;            &lt;/Box&gt;&#10;            &lt;Box style={{ width: 288, height: 212, background: '#F7F9FC', border: '1px solid #D6DCE5', borderTop: '6px solid #1E4FA8', borderRadius: 8, paddingTop: 18, paddingBottom: 18, paddingLeft: 18, paddingRight: 18, gap: 10 }}&gt;&#10;                &lt;Box style={{ width: 36, height: 36, background: '#1E4FA8', borderRadius: 18, alignItems: 'center', justifyContent: 'center' }}&gt;&#10;                    &lt;Text style={{ fontSize: 20, fontWeight: 'bold', color: '#FFFFFF' }}&gt;4&lt;/Text&gt;&#10;                &lt;/Box&gt;&#10;                &lt;Text style={{ fontSize: 22, fontWeight: 'bold', color: '#0E3F8C' }}&gt;初始化与故障复位&lt;/Text&gt;&#10;                &lt;Text style={{ fontSize: 19, color: '#4A5568' }}&gt;用「写入值」而非「强制值」；nPhase=90 时给 bReset 一个上升沿清锁存。&lt;/Text&gt;&#10;            &lt;/Box&gt;&#10;        &lt;/Box&gt;&#10;        &lt;Box style={{ height: 16 }} /&gt;&#10;        &lt;Box style={{ flexDirection: 'row', height: 212, gap: 16 }}&gt;&#10;            &lt;Box style={{ width: 288, height: 212, background: '#E8EFF8', border: '1px solid #3D7BD9', borderTop: '6px solid #0E3F8C', borderRadius: 8, paddingTop: 18, paddingBottom: 18, paddingLeft: 18, paddingRight: 18, gap: 10 }}&gt;&#10;                &lt;Box style={{ width: 36, height: 36, background: '#0E3F8C', borderRadius: 18, alignItems: 'center', justifyContent: 'center' }}&gt;&#10;                    &lt;Text style={{ fontSize: 20, fontWeight: 'bold', color: '#FFFFFF' }}&gt;5&lt;/Text&gt;&#10;                &lt;/Box&gt;&#10;                &lt;Text style={{ fontSize: 22, fontWeight: 'bold', color: '#0E3F8C' }}&gt;预置速度再启动&lt;/Text&gt;&#10;                &lt;Text style={{ fontSize: 19, color: '#4A5568' }}&gt;先写 rDemandRpm=+6.0，再把 bStart 由 FALSE 写为 TRUE，产生启动边沿。&lt;/Text&gt;&#10;            &lt;/Box&gt;&#10;            &lt;Box style={{ width: 288, height: 212, background: '#F7F9FC', border: '1px solid #D6DCE5', borderTop: '6px solid #1E4FA8', borderRadius: 8, paddingTop: 18, paddingBottom: 18, paddingLeft: 18, paddingRight: 18, gap: 10 }}&gt;&#10;                &lt;Box style={{ width: 36, height: 36, background: '#1E4FA8', borderRadius: 18, alignItems: 'center', justifyContent: 'center' }}&gt;&#10;                    &lt;Text style={{ fontSize: 20, fontWeight: 'bold', color: '#FFFFFF' }}&gt;6&lt;/Text&gt;&#10;                &lt;/Box&gt;&#10;                &lt;Text style={{ fontSize: 22, fontWeight: 'bold', color: '#0E3F8C' }}&gt;运行与主动停止&lt;/Text&gt;&#10;                &lt;Text style={{ fontSize: 19, color: '#4A5568' }}&gt;Start 后约 4 s 把 bStop 写 TRUE；确认 nPhase=0 并目视转轴完全停稳。&lt;/Text&gt;&#10;            &lt;/Box&gt;&#10;            &lt;Box style={{ width: 288, height: 212, background: '#FFFFFF', border: '1px solid #D6DCE5', borderTop: '6px solid #8B97A8', borderRadius: 8, paddingTop: 18, paddingBottom: 18, paddingLeft: 18, paddingRight: 18, gap: 10 }}&gt;&#10;                &lt;Box style={{ width: 36, height: 36, background: '#8B97A8', borderRadius: 18, alignItems: 'center', justifyContent: 'center' }}&gt;&#10;                    &lt;Text style={{ fontSize: 20, fontWeight: 'bold', color: '#FFFFFF' }}&gt;7&lt;/Text&gt;&#10;                &lt;/Box&gt;&#10;                &lt;Text style={{ fontSize: 22, fontWeight: 'bold', color: '#4A5568' }}&gt;反向验证（待做）&lt;/Text&gt;&#10;                &lt;Text style={{ fontSize: 19, color: '#4A5568' }}&gt;停稳后预置 -6.0 并重发启动边沿；运行中禁止由正给定直接改为负给定。&lt;/Text&gt;&#10;            &lt;/Box&gt;&#10;            &lt;Box style={{ width: 288, height: 212, background: '#FFFFFF', border: '1px solid #D9534F', borderTop: '6px solid #D9534F', borderRadius: 8, paddingTop: 18, paddingBottom: 18, paddingLeft: 18, paddingRight: 18, gap: 10 }}&gt;&#10;                &lt;Box style={{ width: 36, height: 36, background: '#D9534F', borderRadius: 18, alignItems: 'center', justifyContent: 'center' }}&gt;&#10;                    &lt;Text style={{ fontSize: 20, fontWeight: 'bold', color: '#FFFFFF' }}&gt;!&lt;/Text&gt;&#10;                &lt;/Box&gt;&#10;                &lt;Text style={{ fontSize: 22, fontWeight: 'bold', color: '#D9534F' }}&gt;贯穿的安全红线&lt;/Text&gt;&#10;                &lt;Text style={{ fontSize: 19, color: '#4A5568' }}&gt;功率输出期间禁止暂停、单步或命中断点；异常时直接切断主电源。&lt;/Text&gt;&#10;            &lt;/Box&gt;&#10;        &lt;/Box&gt;&#10;    &lt;/Box&gt;&#10;    &lt;Box style={{ height: 60, flexDirection: 'row', alignItems: 'center', justifyContent: 'space-between', paddingLeft: 40, paddingRight: 40 }}&gt;&#10;        &lt;Text style={{ fontSize: 14, color: '#8B97A8' }}&gt;STM32H743-VOFA 电机控制平台&lt;/Text&gt;&#10;        &lt;Text style={{ fontSize: 16, color: '#1E4FA8' }}&gt;08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81000" y="171450"/>
            <a:ext cx="434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05 TwinCAT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控制电机的操作流程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0058400" y="228600"/>
            <a:ext cx="175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模式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2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短时空载验证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438150" y="914400"/>
            <a:ext cx="11430000" cy="4381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381000" y="914400"/>
            <a:ext cx="11487150" cy="438150"/>
          </a:xfrm>
          <a:custGeom>
            <a:pathLst>
              <a:path w="1206" h="46">
                <a:moveTo>
                  <a:pt x="0" y="0"/>
                </a:moveTo>
                <a:lnTo>
                  <a:pt x="6" y="0"/>
                </a:lnTo>
                <a:lnTo>
                  <a:pt x="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47700" y="1009650"/>
            <a:ext cx="10953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七步顺序不可颠倒：先让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MCU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连续运行再动主站，先预置速度再发启动边沿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381000" y="1562100"/>
            <a:ext cx="2743200" cy="1962150"/>
          </a:xfrm>
          <a:prstGeom prst="roundRect">
            <a:avLst>
              <a:gd name="adj" fmla="val 388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381000" y="1562100"/>
            <a:ext cx="2743200" cy="1962150"/>
          </a:xfrm>
          <a:custGeom>
            <a:pathLst>
              <a:path w="288" h="206">
                <a:moveTo>
                  <a:pt x="280" y="0"/>
                </a:moveTo>
                <a:cubicBezTo>
                  <a:pt x="284" y="0"/>
                  <a:pt x="288" y="3"/>
                  <a:pt x="288" y="7"/>
                </a:cubicBezTo>
                <a:cubicBezTo>
                  <a:pt x="288" y="6"/>
                  <a:pt x="287" y="6"/>
                  <a:pt x="286" y="6"/>
                </a:cubicBezTo>
                <a:lnTo>
                  <a:pt x="2" y="6"/>
                </a:lnTo>
                <a:cubicBezTo>
                  <a:pt x="1" y="6"/>
                  <a:pt x="0" y="7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28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552450" y="1733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66750" y="17907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52450" y="2171700"/>
            <a:ext cx="240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检查接线与条件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52450" y="2524125"/>
            <a:ext cx="24003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24 V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供电限流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1 A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，抱闸接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12 V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；拆接线须断电，下载前先断开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U/V/W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3276600" y="1562100"/>
            <a:ext cx="2743200" cy="1962150"/>
          </a:xfrm>
          <a:prstGeom prst="roundRect">
            <a:avLst>
              <a:gd name="adj" fmla="val 388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3276600" y="1562100"/>
            <a:ext cx="2743200" cy="1962150"/>
          </a:xfrm>
          <a:custGeom>
            <a:pathLst>
              <a:path w="288" h="206">
                <a:moveTo>
                  <a:pt x="280" y="0"/>
                </a:moveTo>
                <a:cubicBezTo>
                  <a:pt x="284" y="0"/>
                  <a:pt x="288" y="3"/>
                  <a:pt x="288" y="7"/>
                </a:cubicBezTo>
                <a:cubicBezTo>
                  <a:pt x="288" y="6"/>
                  <a:pt x="287" y="6"/>
                  <a:pt x="286" y="6"/>
                </a:cubicBezTo>
                <a:lnTo>
                  <a:pt x="2" y="6"/>
                </a:lnTo>
                <a:cubicBezTo>
                  <a:pt x="1" y="6"/>
                  <a:pt x="0" y="7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28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3448050" y="1733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3562350" y="17907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448050" y="2171700"/>
            <a:ext cx="240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下载并连续运行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448050" y="2524125"/>
            <a:ext cx="24003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Keil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下载同名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AXF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后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Run(F5)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，在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Watch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中确认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uwTick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持续增长。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172200" y="1562100"/>
            <a:ext cx="2743200" cy="1962150"/>
          </a:xfrm>
          <a:prstGeom prst="roundRect">
            <a:avLst>
              <a:gd name="adj" fmla="val 388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6172200" y="1562100"/>
            <a:ext cx="2743200" cy="1962150"/>
          </a:xfrm>
          <a:custGeom>
            <a:pathLst>
              <a:path w="288" h="206">
                <a:moveTo>
                  <a:pt x="280" y="0"/>
                </a:moveTo>
                <a:cubicBezTo>
                  <a:pt x="284" y="0"/>
                  <a:pt x="288" y="3"/>
                  <a:pt x="288" y="7"/>
                </a:cubicBezTo>
                <a:cubicBezTo>
                  <a:pt x="288" y="6"/>
                  <a:pt x="287" y="6"/>
                  <a:pt x="286" y="6"/>
                </a:cubicBezTo>
                <a:lnTo>
                  <a:pt x="2" y="6"/>
                </a:lnTo>
                <a:cubicBezTo>
                  <a:pt x="1" y="6"/>
                  <a:pt x="0" y="7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28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6343650" y="1733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457950" y="17907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343650" y="2171700"/>
            <a:ext cx="240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进入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OP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并运行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PLC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343650" y="2524125"/>
            <a:ext cx="24003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Box 1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Online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页请求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OP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PLC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登录运行，确认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State=8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WcState=FALSE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9067800" y="1562100"/>
            <a:ext cx="2743200" cy="1962150"/>
          </a:xfrm>
          <a:prstGeom prst="roundRect">
            <a:avLst>
              <a:gd name="adj" fmla="val 388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9067800" y="1562100"/>
            <a:ext cx="2743200" cy="1962150"/>
          </a:xfrm>
          <a:custGeom>
            <a:pathLst>
              <a:path w="288" h="206">
                <a:moveTo>
                  <a:pt x="280" y="0"/>
                </a:moveTo>
                <a:cubicBezTo>
                  <a:pt x="284" y="0"/>
                  <a:pt x="288" y="3"/>
                  <a:pt x="288" y="7"/>
                </a:cubicBezTo>
                <a:cubicBezTo>
                  <a:pt x="288" y="6"/>
                  <a:pt x="287" y="6"/>
                  <a:pt x="286" y="6"/>
                </a:cubicBezTo>
                <a:lnTo>
                  <a:pt x="2" y="6"/>
                </a:lnTo>
                <a:cubicBezTo>
                  <a:pt x="1" y="6"/>
                  <a:pt x="0" y="7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28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9239250" y="1733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353550" y="17907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239250" y="2171700"/>
            <a:ext cx="240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初始化与故障复位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239250" y="2524125"/>
            <a:ext cx="24003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用「写入值」而非「强制值」；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nPhase=90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时给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bReset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一个上升沿清锁存。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381000" y="3733800"/>
            <a:ext cx="2743200" cy="1962150"/>
          </a:xfrm>
          <a:prstGeom prst="roundRect">
            <a:avLst>
              <a:gd name="adj" fmla="val 388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381000" y="3733800"/>
            <a:ext cx="2743200" cy="1962150"/>
          </a:xfrm>
          <a:custGeom>
            <a:pathLst>
              <a:path w="288" h="206">
                <a:moveTo>
                  <a:pt x="280" y="0"/>
                </a:moveTo>
                <a:cubicBezTo>
                  <a:pt x="284" y="0"/>
                  <a:pt x="288" y="3"/>
                  <a:pt x="288" y="7"/>
                </a:cubicBezTo>
                <a:cubicBezTo>
                  <a:pt x="288" y="6"/>
                  <a:pt x="287" y="6"/>
                  <a:pt x="286" y="6"/>
                </a:cubicBezTo>
                <a:lnTo>
                  <a:pt x="2" y="6"/>
                </a:lnTo>
                <a:cubicBezTo>
                  <a:pt x="1" y="6"/>
                  <a:pt x="0" y="7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280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552450" y="39052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66750" y="39624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52450" y="4343400"/>
            <a:ext cx="240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预置速度再启动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552450" y="4695825"/>
            <a:ext cx="24003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先写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rDemandRpm=+6.0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，再把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bStart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由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FALSE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写为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TRUE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，产生启动边沿。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3276600" y="3733800"/>
            <a:ext cx="2743200" cy="1962150"/>
          </a:xfrm>
          <a:prstGeom prst="roundRect">
            <a:avLst>
              <a:gd name="adj" fmla="val 3883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3276600" y="3733800"/>
            <a:ext cx="2743200" cy="1962150"/>
          </a:xfrm>
          <a:custGeom>
            <a:pathLst>
              <a:path w="288" h="206">
                <a:moveTo>
                  <a:pt x="280" y="0"/>
                </a:moveTo>
                <a:cubicBezTo>
                  <a:pt x="284" y="0"/>
                  <a:pt x="288" y="3"/>
                  <a:pt x="288" y="7"/>
                </a:cubicBezTo>
                <a:cubicBezTo>
                  <a:pt x="288" y="6"/>
                  <a:pt x="287" y="6"/>
                  <a:pt x="286" y="6"/>
                </a:cubicBezTo>
                <a:lnTo>
                  <a:pt x="2" y="6"/>
                </a:lnTo>
                <a:cubicBezTo>
                  <a:pt x="1" y="6"/>
                  <a:pt x="0" y="7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280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3448050" y="39052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3562350" y="39624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3448050" y="4343400"/>
            <a:ext cx="240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运行与主动停止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3448050" y="4695825"/>
            <a:ext cx="24003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Start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后约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4 s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把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bStop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写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TRUE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；确认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nPhase=0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并目视转轴完全停稳。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172200" y="3733800"/>
            <a:ext cx="274320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6172200" y="3733800"/>
            <a:ext cx="2743200" cy="1962150"/>
          </a:xfrm>
          <a:custGeom>
            <a:pathLst>
              <a:path w="288" h="206">
                <a:moveTo>
                  <a:pt x="280" y="0"/>
                </a:moveTo>
                <a:cubicBezTo>
                  <a:pt x="284" y="0"/>
                  <a:pt x="288" y="3"/>
                  <a:pt x="288" y="7"/>
                </a:cubicBezTo>
                <a:cubicBezTo>
                  <a:pt x="288" y="6"/>
                  <a:pt x="287" y="6"/>
                  <a:pt x="286" y="6"/>
                </a:cubicBezTo>
                <a:lnTo>
                  <a:pt x="2" y="6"/>
                </a:lnTo>
                <a:cubicBezTo>
                  <a:pt x="1" y="6"/>
                  <a:pt x="0" y="7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280" y="0"/>
                </a:ln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6343650" y="39052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457950" y="39624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343650" y="4343400"/>
            <a:ext cx="240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4A5568"/>
                </a:solidFill>
                <a:latin typeface="Microsoft YaHei"/>
                <a:ea typeface="Microsoft YaHei"/>
              </a:rPr>
              <a:t>反向验证（待做）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343650" y="4695825"/>
            <a:ext cx="24003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停稳后预置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-6.0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并重发启动边沿；运行中禁止由正给定直接改为负给定。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9067800" y="3733800"/>
            <a:ext cx="274320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9067800" y="3733800"/>
            <a:ext cx="2743200" cy="1962150"/>
          </a:xfrm>
          <a:custGeom>
            <a:pathLst>
              <a:path w="288" h="206">
                <a:moveTo>
                  <a:pt x="280" y="0"/>
                </a:moveTo>
                <a:cubicBezTo>
                  <a:pt x="284" y="0"/>
                  <a:pt x="288" y="3"/>
                  <a:pt x="288" y="7"/>
                </a:cubicBezTo>
                <a:cubicBezTo>
                  <a:pt x="288" y="6"/>
                  <a:pt x="287" y="6"/>
                  <a:pt x="286" y="6"/>
                </a:cubicBezTo>
                <a:lnTo>
                  <a:pt x="2" y="6"/>
                </a:lnTo>
                <a:cubicBezTo>
                  <a:pt x="1" y="6"/>
                  <a:pt x="0" y="7"/>
                  <a:pt x="0" y="8"/>
                </a:cubicBezTo>
                <a:cubicBezTo>
                  <a:pt x="0" y="3"/>
                  <a:pt x="4" y="0"/>
                  <a:pt x="8" y="0"/>
                </a:cubicBezTo>
                <a:lnTo>
                  <a:pt x="280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9239250" y="39052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9382125" y="3962400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9239250" y="4343400"/>
            <a:ext cx="240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贯穿的安全红线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9239250" y="4695825"/>
            <a:ext cx="24003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功率输出期间禁止暂停、单步或命中断点；异常时直接切断主电源。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STM32H743-VOFA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电机控制平台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16" name="" descr="&lt;Slide style={{ width: '1280px', height: '720px', background: '#FFFFFF', padding: 0, fontFamily: 'Microsoft YaHei, SimHei, sans-serif' }}&gt;&#10;    &lt;Box style={{ height: 72, background: '#1E4FA8', flexDirection: 'row', alignItems: 'center', justifyContent: 'space-between', paddingLeft: 40, paddingRight: 40 }}&gt;&#10;        &lt;Text style={{ fontSize: 30, fontWeight: 'bold', color: '#FFFFFF' }}&gt;05 相位状态机与故障恢复&lt;/Text&gt;&#10;        &lt;Text style={{ fontSize: 20, color: '#BFD3EE' }}&gt;nPhase 0 / 10 / 20 / 30 / 80 / 90&lt;/Text&gt;&#10;    &lt;/Box&gt;&#10;    &lt;Box style={{ height: 588, paddingTop: 24, paddingBottom: 16, paddingLeft: 40, paddingRight: 40 }}&gt;&#10;        &lt;Box style={{ height: 46, background: '#F0F5FC', borderLeft: '6px solid #1E4FA8', paddingLeft: 22, paddingRight: 22, justifyContent: 'center' }}&gt;&#10;            &lt;Text style={{ fontSize: 21, color: '#1A2230' }}&gt;正常路径是一条环，故障路径是一条必须先释放、再复位、再重启的支路&lt;/Text&gt;&#10;        &lt;/Box&gt;&#10;        &lt;Box style={{ height: 8 }} /&gt;&#10;        &lt;Box style={{ flexDirection: 'row', height: 440, gap: 24 }}&gt;&#10;            &lt;Box style={{ width: 700, height: 440, background: '#FFFFFF', border: '1px solid #D6DCE5', borderRadius: 8, alignItems: 'center', justifyContent: 'center' }}&gt;&#10;                &lt;svg width={660} height={310} viewBox='0 0 680 320'&gt;&#10;                    &lt;defs&gt;&#10;                        &lt;marker id='arrow' viewBox='0 0 10 10' refX='8' refY='5' markerWidth='6' markerHeight='6' orient='auto-start-reverse'&gt;&#10;                            &lt;path d='M2 1L8 5L2 9' fill='none' stroke='context-stroke' strokeWidth='1.5' strokeLinecap='round' strokeLinejoin='round' /&gt;&#10;                        &lt;/marker&gt;&#10;                    &lt;/defs&gt;&#10;                    &lt;rect x='40' y='76' width='124' height='56' rx='8' fill='#E8EFF8' stroke='#1E4FA8' strokeWidth='0.5' /&gt;&#10;                    &lt;text x='102' y='96' textAnchor='middle' dominantBaseline='central' fontSize='14' fontWeight='bold' fill='#0E3F8C'&gt;0 待机&lt;/text&gt;&#10;                    &lt;text x='102' y='114' textAnchor='middle' dominantBaseline='central' fontSize='12.5' fill='#1E4FA8'&gt;输出关闭&lt;/text&gt;&#10;                    &lt;text x='180' y='64' textAnchor='middle' fontSize='12.5' fill='#4A5568'&gt;bStart 上升沿&lt;/text&gt;&#10;                    &lt;path d='M164 104 L190 104' fill='none' stroke='#8B97A8' strokeWidth='1.5' markerEnd='url(#arrow)' /&gt;&#10;                    &lt;rect x='196' y='76' width='124' height='56' rx='8' fill='#E8EFF8' stroke='#1E4FA8' strokeWidth='0.5' /&gt;&#10;                    &lt;text x='258' y='96' textAnchor='middle' dominantBaseline='central' fontSize='14' fontWeight='bold' fill='#0E3F8C'&gt;10 启动&lt;/text&gt;&#10;                    &lt;text x='258' y='114' textAnchor='middle' dominantBaseline='central' fontSize='12.5' fill='#1E4FA8'&gt;对齐 0.5A / 0.75s&lt;/text&gt;&#10;                    &lt;text x='336' y='64' textAnchor='middle' fontSize='12.5' fill='#4A5568'&gt;对齐完成&lt;/text&gt;&#10;                    &lt;path d='M320 104 L346 104' fill='none' stroke='#8B97A8' strokeWidth='1.5' markerEnd='url(#arrow)' /&gt;&#10;                    &lt;rect x='352' y='76' width='124' height='56' rx='8' fill='#E8EFF8' stroke='#1E4FA8' strokeWidth='0.5' /&gt;&#10;                    &lt;text x='414' y='96' textAnchor='middle' dominantBaseline='central' fontSize='14' fontWeight='bold' fill='#0E3F8C'&gt;20 运行&lt;/text&gt;&#10;                    &lt;text x='414' y='114' textAnchor='middle' dominantBaseline='central' fontSize='12.5' fill='#1E4FA8'&gt;Iq 0.8A，最长 6s&lt;/text&gt;&#10;                    &lt;text x='492' y='64' textAnchor='middle' fontSize='12.5' fill='#4A5568'&gt;bStop&lt;/text&gt;&#10;                    &lt;path d='M476 104 L502 104' fill='none' stroke='#8B97A8' strokeWidth='1.5' markerEnd='url(#arrow)' /&gt;&#10;                    &lt;rect x='508' y='76' width='124' height='56' rx='8' fill='#E8EFF8' stroke='#1E4FA8' strokeWidth='0.5' /&gt;&#10;                    &lt;text x='570' y='96' textAnchor='middle' dominantBaseline='central' fontSize='14' fontWeight='bold' fill='#0E3F8C'&gt;30 停止&lt;/text&gt;&#10;                    &lt;text x='570' y='114' textAnchor='middle' dominantBaseline='central' fontSize='12.5' fill='#1E4FA8'&gt;目视确认停稳&lt;/text&gt;&#10;                    &lt;text x='336' y='168' textAnchor='middle' fontSize='12.5' fill='#D9534F'&gt;故障&lt;/text&gt;&#10;                    &lt;path d='M414 132 L414 176 L258 176 L258 194' fill='none' stroke='#D9534F' strokeWidth='1.5' markerEnd='url(#arrow)' /&gt;&#10;                    &lt;rect x='196' y='200' width='124' height='56' rx='8' fill='#FBEAEA' stroke='#D9534F' strokeWidth='0.5' /&gt;&#10;                    &lt;text x='258' y='220' textAnchor='middle' dominantBaseline='central' fontSize='14' fontWeight='bold' fill='#D9534F'&gt;90 故障锁存&lt;/text&gt;&#10;                    &lt;text x='258' y='238' textAnchor='middle' dominantBaseline='central' fontSize='12.5' fill='#D9534F'&gt;不会自动清除&lt;/text&gt;&#10;                    &lt;path d='M320 228 L346 228' fill='none' stroke='#D9534F' strokeWidth='1.5' markerEnd='url(#arrow)' /&gt;&#10;                    &lt;rect x='352' y='200' width='124' height='56' rx='8' fill='#E8EFF8' stroke='#1E4FA8' strokeWidth='0.5' /&gt;&#10;                    &lt;text x='414' y='220' textAnchor='middle' dominantBaseline='central' fontSize='14' fontWeight='bold' fill='#0E3F8C'&gt;80 复位&lt;/text&gt;&#10;                    &lt;text x='414' y='238' textAnchor='middle' dominantBaseline='central' fontSize='12.5' fill='#1E4FA8'&gt;清锁存回待机&lt;/text&gt;&#10;                    &lt;text x='336' y='272' textAnchor='middle' fontSize='12.5' fill='#D9534F'&gt;bReset 上升沿（先 bStart=FALSE）&lt;/text&gt;&#10;                    &lt;path d='M414 256 L414 284 L95 284 L95 138' fill='none' stroke='#8B97A8' strokeWidth='1.5' markerEnd='url(#arrow)' /&gt;&#10;                    &lt;text x='520' y='292' textAnchor='middle' fontSize='12.5' fill='#4A5568'&gt;回到待机&lt;/text&gt;&#10;                    &lt;path d='M570 132 L570 300 L125 300 L125 138' fill='none' stroke='#8B97A8' strokeWidth='1.5' markerEnd='url(#arrow)' /&gt;&#10;                &lt;/svg&gt;&#10;            &lt;/Box&gt;&#10;            &lt;Box style={{ width: 476, height: 440, gap: 16 }}&gt;&#10;                &lt;Box style={{ flex: 1, background: '#F7F9FC', border: '1px solid #D6DCE5', borderRadius: 8, paddingTop: 16, paddingBottom: 16, paddingLeft: 20, paddingRight: 20, gap: 6 }}&gt;&#10;                    &lt;Text style={{ fontSize: 22, fontWeight: 'bold', color: '#0E3F8C' }}&gt;故障复位四步&lt;/Text&gt;&#10;                    &lt;Box style={{ flexDirection: 'row', alignItems: 'center', gap: 12 }}&gt;&#10;                        &lt;Box style={{ width: 26, height: 26, background: '#1E4FA8', borderRadius: 6, alignItems: 'center', justifyContent: 'center' }}&gt;&#10;                            &lt;Text style={{ fontSize: 16, fontWeight: 'bold', color: '#FFFFFF' }}&gt;1&lt;/Text&gt;&#10;                        &lt;/Box&gt;&#10;                        &lt;Text style={{ fontSize: 19, color: '#1A2230' }}&gt;先释放：把 bStart 写回 FALSE&lt;/Text&gt;&#10;                    &lt;/Box&gt;&#10;                    &lt;Box style={{ flexDirection: 'row', alignItems: 'center', gap: 12 }}&gt;&#10;                        &lt;Box style={{ width: 26, height: 26, background: '#1E4FA8', borderRadius: 6, alignItems: 'center', justifyContent: 'center' }}&gt;&#10;                            &lt;Text style={{ fontSize: 16, fontWeight: 'bold', color: '#FFFFFF' }}&gt;2&lt;/Text&gt;&#10;                        &lt;/Box&gt;&#10;                        &lt;Text style={{ fontSize: 19, color: '#1A2230' }}&gt;给边沿：bReset 写 TRUE 再写回 FALSE&lt;/Text&gt;&#10;                    &lt;/Box&gt;&#10;                    &lt;Box style={{ flexDirection: 'row', alignItems: 'center', gap: 12 }}&gt;&#10;                        &lt;Box style={{ width: 26, height: 26, background: '#1E4FA8', borderRadius: 6, alignItems: 'center', justifyContent: 'center' }}&gt;&#10;                            &lt;Text style={{ fontSize: 16, fontWeight: 'bold', color: '#FFFFFF' }}&gt;3&lt;/Text&gt;&#10;                        &lt;/Box&gt;&#10;                        &lt;Text style={{ fontSize: 19, color: '#1A2230' }}&gt;查状态：nPhase=0 且 bLocalFault=FALSE&lt;/Text&gt;&#10;                    &lt;/Box&gt;&#10;                    &lt;Box style={{ flexDirection: 'row', alignItems: 'center', gap: 12 }}&gt;&#10;                        &lt;Box style={{ width: 26, height: 26, background: '#1E4FA8', borderRadius: 6, alignItems: 'center', justifyContent: 'center' }}&gt;&#10;                            &lt;Text style={{ fontSize: 16, fontWeight: 'bold', color: '#FFFFFF' }}&gt;4&lt;/Text&gt;&#10;                        &lt;/Box&gt;&#10;                        &lt;Text style={{ fontSize: 19, color: '#1A2230' }}&gt;再启动：重新发送 bStart 上升沿&lt;/Text&gt;&#10;                    &lt;/Box&gt;&#10;                &lt;/Box&gt;&#10;                &lt;Box style={{ flex: 1, background: '#F7F9FC', border: '1px solid #D6DCE5', borderRadius: 8, paddingTop: 16, paddingBottom: 16, paddingLeft: 20, paddingRight: 20, gap: 8 }}&gt;&#10;                    &lt;Text style={{ fontSize: 22, fontWeight: 'bold', color: '#0E3F8C' }}&gt;两层状态必须分开看&lt;/Text&gt;&#10;                    &lt;Text style={{ fontSize: 19, color: '#4A5568' }}&gt;通信层：State=8、WcState=FALSE&lt;/Text&gt;&#10;                    &lt;Text style={{ fontSize: 19, color: '#4A5568' }}&gt;应用层：nPhase、bLocalFault&lt;/Text&gt;&#10;                    &lt;Text style={{ fontSize: 19, color: '#4A5568' }}&gt;故障码：12 时限 / 13 换向 / 14 停止超时&lt;/Text&gt;&#10;                    &lt;Text style={{ fontSize: 19, fontWeight: 'bold', color: '#D9534F' }}&gt;通信恢复不等于故障锁存被清除&lt;/Text&gt;&#10;                &lt;/Box&gt;&#10;            &lt;/Box&gt;&#10;        &lt;/Box&gt;&#10;        &lt;Box style={{ height: 8 }} /&gt;&#10;        &lt;Box style={{ height: 46, background: '#0E3F8C', borderRadius: 8, paddingLeft: 28, paddingRight: 28, justifyContent: 'center' }}&gt;&#10;            &lt;Text style={{ fontSize: 21, fontWeight: 'bold', color: '#FFFFFF' }}&gt;复位靠上升沿而不是电平，且必须先释放 bStart——这是本阶段最容易踩的操作点&lt;/Text&gt;&#10;        &lt;/Box&gt;&#10;    &lt;/Box&gt;&#10;    &lt;Box style={{ height: 60, flexDirection: 'row', alignItems: 'center', justifyContent: 'space-between', paddingLeft: 40, paddingRight: 40 }}&gt;&#10;        &lt;Text style={{ fontSize: 14, color: '#8B97A8' }}&gt;STM32H743-VOFA 电机控制平台&lt;/Text&gt;&#10;        &lt;Text style={{ fontSize: 16, color: '#1E4FA8' }}&gt;09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381000" y="171450"/>
            <a:ext cx="3295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05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相位状态机与故障恢复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896350" y="228600"/>
            <a:ext cx="2914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nPhase 0 / 10 / 20 / 30 / 80 / 90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438150" y="914400"/>
            <a:ext cx="11430000" cy="4381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381000" y="914400"/>
            <a:ext cx="11487150" cy="438150"/>
          </a:xfrm>
          <a:custGeom>
            <a:pathLst>
              <a:path w="1206" h="46">
                <a:moveTo>
                  <a:pt x="0" y="0"/>
                </a:moveTo>
                <a:lnTo>
                  <a:pt x="6" y="0"/>
                </a:lnTo>
                <a:lnTo>
                  <a:pt x="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47700" y="1009650"/>
            <a:ext cx="10953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正常路径是一条环，故障路径是一条必须先释放、再复位、再重启的支路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381000" y="1428750"/>
            <a:ext cx="6667500" cy="41910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2047875"/>
            <a:ext cx="6286500" cy="2952750"/>
          </a:xfrm>
          <a:prstGeom prst="rect">
            <a:avLst/>
          </a:prstGeom>
          <a:ln/>
        </p:spPr>
      </p:pic>
      <p:sp>
        <p:nvSpPr>
          <p:cNvPr id="326" name=""/>
          <p:cNvSpPr/>
          <p:nvPr/>
        </p:nvSpPr>
        <p:spPr>
          <a:xfrm rot="0" flipH="0" flipV="0">
            <a:off x="7277100" y="1428750"/>
            <a:ext cx="4533900" cy="2038350"/>
          </a:xfrm>
          <a:prstGeom prst="roundRect">
            <a:avLst>
              <a:gd name="adj" fmla="val 373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467600" y="1581150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故障复位四步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7467600" y="18954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543800" y="19240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7829550" y="1914525"/>
            <a:ext cx="2466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先释放：把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bStart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写回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FALSE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7467600" y="22002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543800" y="22288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829550" y="2219325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给边沿：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bReset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写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TRUE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再写回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FALSE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7467600" y="25050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543800" y="25336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829550" y="2524125"/>
            <a:ext cx="3495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查状态：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nPhase=0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且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bLocalFault=FALSE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7467600" y="28098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543800" y="28384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829550" y="2828925"/>
            <a:ext cx="2628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再启动：重新发送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bStart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上升沿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7277100" y="3619500"/>
            <a:ext cx="4533900" cy="200025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467600" y="3771900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两层状态必须分开看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467600" y="4105275"/>
            <a:ext cx="415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通信层：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State=8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WcState=FALSE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467600" y="4400550"/>
            <a:ext cx="415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应用层：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nPhase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bLocalFault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467600" y="4695825"/>
            <a:ext cx="415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故障码：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12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时限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/ 13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换向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/ 14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停止超时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7467600" y="4991100"/>
            <a:ext cx="415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通信恢复不等于故障锁存被清除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381000" y="5695950"/>
            <a:ext cx="11430000" cy="438150"/>
          </a:xfrm>
          <a:prstGeom prst="roundRect">
            <a:avLst>
              <a:gd name="adj" fmla="val 173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47700" y="5791200"/>
            <a:ext cx="10896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复位靠上升沿而不是电平，且必须先释放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bStart——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这是本阶段最容易踩的操作点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STM32H743-VOFA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电机控制平台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7" name="" descr="&lt;Slide style={{ width: '1280px', height: '720px', background: '#FFFFFF', padding: 0, fontFamily: 'Microsoft YaHei, SimHei, sans-serif' }}&gt;&#10;    &lt;Box style={{ height: 72, background: '#1E4FA8', flexDirection: 'row', alignItems: 'center', justifyContent: 'space-between', paddingLeft: 40, paddingRight: 40 }}&gt;&#10;        &lt;Text style={{ fontSize: 30, fontWeight: 'bold', color: '#FFFFFF' }}&gt;06 当前配置、后续工作与结论&lt;/Text&gt;&#10;        &lt;Text style={{ fontSize: 20, color: '#BFD3EE' }}&gt;截至 2026 年 10 月 23 日&lt;/Text&gt;&#10;    &lt;/Box&gt;&#10;    &lt;Box style={{ height: 588, paddingTop: 24, paddingBottom: 16, paddingLeft: 40, paddingRight: 40 }}&gt;&#10;        &lt;Box style={{ height: 46, background: '#F0F5FC', borderLeft: '6px solid #1E4FA8', paddingLeft: 22, paddingRight: 22, justifyContent: 'center' }}&gt;&#10;            &lt;Text style={{ fontSize: 21, color: '#1A2230' }}&gt;左表为本次汇报对应的实际配置，右侧是本轮明确保留、未做的三项工作&lt;/Text&gt;&#10;        &lt;/Box&gt;&#10;        &lt;Box style={{ height: 8 }} /&gt;&#10;        &lt;Box style={{ flexDirection: 'row', height: 440, gap: 24 }}&gt;&#10;            &lt;Box style={{ width: 700, height: 440, background: '#FFFFFF', border: '1px solid #D6DCE5', borderRadius: 8, paddingTop: 16, paddingBottom: 16, paddingLeft: 16, paddingRight: 16, gap: 10 }}&gt;&#10;                &lt;Text style={{ fontSize: 22, fontWeight: 'bold', color: '#0E3F8C' }}&gt;截至本次汇报的配置&lt;/Text&gt;&#10;                &lt;Table&#10;                    style={{ width: '100%', height: 372 }}&#10;                    defaultTextStyle={{ fontSize: 16, textAlign: 'center', color: '#1A2230' }}&#10;                    defaultCellStyle={{ border: { left: { width: 1, color: '#D6DCE5' }, right: { width: 1, color: '#D6DCE5' }, top: { width: 1, color: '#D6DCE5' }, bottom: { width: 1, color: '#D6DCE5' } } }}&#10;                    cells={[&#10;                        [&#10;                            { text: '参数', textStyle: { bold: true, color: '#FFFFFF' }, cellStyle: { background: { color: '#1E4FA8' } } },&#10;                            { text: '当前值', textStyle: { bold: true, color: '#FFFFFF' }, cellStyle: { background: { color: '#1E4FA8' } } },&#10;                            { text: '说明', textStyle: { bold: true, color: '#FFFFFF' }, cellStyle: { background: { color: '#1E4FA8' } } },&#10;                        ],&#10;                        ['对齐 Id / 运行 Iq', '0.5 A / 0.8 A', '参考给定不等于实际电流'],&#10;                        [&#10;                            { text: '参考限幅 / 电压限幅', cellStyle: { background: { color: '#F7F9FC' } } },&#10;                            { text: '1.0 A / 0.15 pu', cellStyle: { background: { color: '#F7F9FC' } } },&#10;                            { text: '不作安全额定值认定', cellStyle: { background: { color: '#F7F9FC' } } },&#10;                        ],&#10;                        ['极对数与已用需求', '10；+6、+12', '对应 +1、+2 Hz 电角频率'],&#10;                        [&#10;                            { text: '对齐时间 / 频率斜坡', cellStyle: { background: { color: '#F7F9FC' } } },&#10;                            { text: '0.75 s / 20 rpm/s', cellStyle: { background: { color: '#F7F9FC' } } },&#10;                            { text: '斜坡为等效磁场速度变化率', cellStyle: { background: { color: '#F7F9FC' } } },&#10;                        ],&#10;                        ['会话 / 运动上限', '10 s / 6 s', '两层共用，含加减速'],&#10;                        [&#10;                            { text: '通信 / 停止保护', cellStyle: { background: { color: '#F7F9FC' } } },&#10;                            { text: '100 ms / 2 s', cellStyle: { background: { color: '#F7F9FC' } } },&#10;                            { text: '超限撤销许可或进故障', cellStyle: { background: { color: '#F7F9FC' } } },&#10;                        ],&#10;                        ['相电流软件关断', '&gt;10 A 连续两次', '0.6 A 仍为诊断门槛'],&#10;                        [&#10;                            { text: 'ADC / PWM', cellStyle: { background: { color: '#F7F9FC' } } },&#10;                            { text: 'Bench DIV2 / 约 10 kHz', cellStyle: { background: { color: '#F7F9FC' } } },&#10;                            { text: '采样质量未验收', cellStyle: { background: { color: '#F7F9FC' } } },&#10;                        ],&#10;                    ]}&#10;                /&gt;&#10;            &lt;/Box&gt;&#10;            &lt;Box style={{ width: 476, height: 440, gap: 16 }}&gt;&#10;                &lt;Box style={{ flex: 1, background: '#F7F9FC', border: '1px solid #D6DCE5', borderLeft: '6px solid #1E4FA8', borderRadius: 8, paddingTop: 18, paddingBottom: 18, paddingLeft: 20, paddingRight: 20, gap: 8 }}&gt;&#10;                    &lt;Text style={{ fontSize: 22, fontWeight: 'bold', color: '#0E3F8C' }}&gt;待办一 · 反向转动&lt;/Text&gt;&#10;                    &lt;Text style={{ fontSize: 19, color: '#4A5568' }}&gt;在停稳后验证负给定反向转动，确认方向是否与正给定相反。&lt;/Text&gt;&#10;                &lt;/Box&gt;&#10;                &lt;Box style={{ flex: 1, background: '#F7F9FC', border: '1px solid #D6DCE5', borderLeft: '6px solid #1E4FA8', borderRadius: 8, paddingTop: 18, paddingBottom: 18, paddingLeft: 20, paddingRight: 20, gap: 8 }}&gt;&#10;                    &lt;Text style={{ fontSize: 22, fontWeight: 'bold', color: '#0E3F8C' }}&gt;待办二 · 运行质量&lt;/Text&gt;&#10;                    &lt;Text style={{ fontSize: 19, color: '#4A5568' }}&gt;区分起动阶段与恒速阶段的抖动、噪声，再决定是否调整控制参数。&lt;/Text&gt;&#10;                &lt;/Box&gt;&#10;                &lt;Box style={{ flex: 1, background: '#F0F5FC', border: '1px solid #3D7BD9', borderLeft: '6px solid #D9534F', borderRadius: 8, paddingTop: 18, paddingBottom: 18, paddingLeft: 20, paddingRight: 20, gap: 8 }}&gt;&#10;                    &lt;Text style={{ fontSize: 22, fontWeight: 'bold', color: '#D9534F' }}&gt;待办三 · 采样与保护&lt;/Text&gt;&#10;                    &lt;Text style={{ fontSize: 19, color: '#4A5568' }}&gt;核实电流采样准确性、真实相电流与保护有效性，本轮尚未确认。&lt;/Text&gt;&#10;                &lt;/Box&gt;&#10;            &lt;/Box&gt;&#10;        &lt;/Box&gt;&#10;        &lt;Box style={{ height: 8 }} /&gt;&#10;        &lt;Box style={{ height: 46, background: '#0E3F8C', borderRadius: 8, paddingLeft: 28, paddingRight: 28, justifyContent: 'center' }}&gt;&#10;            &lt;Text style={{ fontSize: 21, fontWeight: 'bold', color: '#FFFFFF' }}&gt;本轮不再追加实机测试，不在汇报前继续扩大参数——把边界写清楚比多一组数据更重要&lt;/Text&gt;&#10;        &lt;/Box&gt;&#10;    &lt;/Box&gt;&#10;    &lt;Box style={{ height: 60, flexDirection: 'row', alignItems: 'center', justifyContent: 'space-between', paddingLeft: 40, paddingRight: 40 }}&gt;&#10;        &lt;Text style={{ fontSize: 14, color: '#8B97A8' }}&gt;STM32H743-VOFA 电机控制平台&lt;/Text&gt;&#10;        &lt;Text style={{ fontSize: 16, color: '#1E4FA8' }}&gt;10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81000" y="171450"/>
            <a:ext cx="3867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06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当前配置、后续工作与结论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620250" y="228600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截至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2026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年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10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月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23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38150" y="914400"/>
            <a:ext cx="11430000" cy="4381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381000" y="914400"/>
            <a:ext cx="11487150" cy="438150"/>
          </a:xfrm>
          <a:custGeom>
            <a:pathLst>
              <a:path w="1206" h="46">
                <a:moveTo>
                  <a:pt x="0" y="0"/>
                </a:moveTo>
                <a:lnTo>
                  <a:pt x="6" y="0"/>
                </a:lnTo>
                <a:lnTo>
                  <a:pt x="6" y="46"/>
                </a:lnTo>
                <a:lnTo>
                  <a:pt x="0" y="4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47700" y="1009650"/>
            <a:ext cx="10953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左表为本次汇报对应的实际配置，右侧是本轮明确保留、未做的三项工作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381000" y="1428750"/>
            <a:ext cx="6667500" cy="41910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33400" y="1581150"/>
            <a:ext cx="6362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截至本次汇报的配置</a:t>
            </a:r>
            <a:endParaRPr/>
          </a:p>
        </p:txBody>
      </p:sp>
      <p:graphicFrame>
        <p:nvGraphicFramePr>
          <p:cNvPr id="37" name=""/>
          <p:cNvGraphicFramePr/>
          <p:nvPr/>
        </p:nvGraphicFramePr>
        <p:xfrm rot="0" flipH="0" flipV="0">
          <a:off x="533400" y="1933575"/>
          <a:ext cx="6362700" cy="3543300"/>
        </p:xfrm>
        <a:graphic>
          <a:graphicData uri="http://schemas.openxmlformats.org/drawingml/2006/table">
            <a:tbl>
              <a:tblGrid>
                <a:gridCol w="1805568">
                  <a:extLst>
                    <a:ext uri="{9D8B030D-6E8A-4147-A177-3AD203B41FA5}">
                      <a16:colId val="1"/>
                    </a:ext>
                  </a:extLst>
                </a:gridCol>
                <a:gridCol w="2202653">
                  <a:extLst>
                    <a:ext uri="{9D8B030D-6E8A-4147-A177-3AD203B41FA5}">
                      <a16:colId val="2"/>
                    </a:ext>
                  </a:extLst>
                </a:gridCol>
                <a:gridCol w="2354479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93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93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对齐 Id / 运行 Iq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0.5 A / 0.8 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参考给定不等于实际电流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93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参考限幅 / 电压限幅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1.0 A / 0.15 pu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不作安全额定值认定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93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极对数与已用需求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10；+6、+12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对应 +1、+2 Hz 电角频率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93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对齐时间 / 频率斜坡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0.75 s / 20 rpm/s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斜坡为等效磁场速度变化率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93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会话 / 运动上限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 s / 6 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两层共用，含加减速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93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通信 / 停止保护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100 ms / 2 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超限撤销许可或进故障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93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相电流软件关断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&gt;10 A 连续两次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0.6 A 仍为诊断门槛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93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ADC / PWM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Bench DIV2 / 约 10 kHz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采样质量未验收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38" name=""/>
          <p:cNvSpPr/>
          <p:nvPr/>
        </p:nvSpPr>
        <p:spPr>
          <a:xfrm rot="0" flipH="0" flipV="0">
            <a:off x="7334250" y="1428750"/>
            <a:ext cx="4533900" cy="129540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7334250" y="1428750"/>
            <a:ext cx="4533900" cy="1295400"/>
          </a:xfrm>
          <a:custGeom>
            <a:pathLst>
              <a:path w="476" h="136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34"/>
                </a:lnTo>
                <a:cubicBezTo>
                  <a:pt x="6" y="135"/>
                  <a:pt x="7" y="136"/>
                  <a:pt x="8" y="136"/>
                </a:cubicBezTo>
                <a:cubicBezTo>
                  <a:pt x="3" y="136"/>
                  <a:pt x="0" y="132"/>
                  <a:pt x="0" y="128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524750" y="1600200"/>
            <a:ext cx="4095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待办一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反向转动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524750" y="1933575"/>
            <a:ext cx="40957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在停稳后验证负给定反向转动，确认方向是否与正给定相反。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7334250" y="2876550"/>
            <a:ext cx="4533900" cy="1295400"/>
          </a:xfrm>
          <a:prstGeom prst="roundRect">
            <a:avLst>
              <a:gd name="adj" fmla="val 588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7334250" y="2876550"/>
            <a:ext cx="4533900" cy="1295400"/>
          </a:xfrm>
          <a:custGeom>
            <a:pathLst>
              <a:path w="476" h="136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34"/>
                </a:lnTo>
                <a:cubicBezTo>
                  <a:pt x="6" y="135"/>
                  <a:pt x="7" y="136"/>
                  <a:pt x="8" y="136"/>
                </a:cubicBezTo>
                <a:cubicBezTo>
                  <a:pt x="3" y="136"/>
                  <a:pt x="0" y="132"/>
                  <a:pt x="0" y="128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524750" y="3048000"/>
            <a:ext cx="4095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待办二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运行质量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524750" y="3381375"/>
            <a:ext cx="40957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区分起动阶段与恒速阶段的抖动、噪声，再决定是否调整控制参数。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7334250" y="4324350"/>
            <a:ext cx="4533900" cy="1295400"/>
          </a:xfrm>
          <a:prstGeom prst="roundRect">
            <a:avLst>
              <a:gd name="adj" fmla="val 588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7334250" y="4324350"/>
            <a:ext cx="4533900" cy="1295400"/>
          </a:xfrm>
          <a:custGeom>
            <a:pathLst>
              <a:path w="476" h="136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34"/>
                </a:lnTo>
                <a:cubicBezTo>
                  <a:pt x="6" y="135"/>
                  <a:pt x="7" y="136"/>
                  <a:pt x="8" y="136"/>
                </a:cubicBezTo>
                <a:cubicBezTo>
                  <a:pt x="3" y="136"/>
                  <a:pt x="0" y="132"/>
                  <a:pt x="0" y="128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524750" y="4495800"/>
            <a:ext cx="4095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待办三</a:t>
            </a:r>
            <a:r>
              <a:rPr lang="en-US" sz="1650" b="1">
                <a:solidFill>
                  <a:srgbClr val="D9534F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采样与保护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524750" y="4829175"/>
            <a:ext cx="40957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核实电流采样准确性、真实相电流与保护有效性，本轮尚未确认。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381000" y="5695950"/>
            <a:ext cx="11430000" cy="438150"/>
          </a:xfrm>
          <a:prstGeom prst="roundRect">
            <a:avLst>
              <a:gd name="adj" fmla="val 17391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47700" y="5791200"/>
            <a:ext cx="10896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本轮不再追加实机测试，不在汇报前继续扩大参数——把边界写清楚比多一组数据更重要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STM32H743-VOFA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电机控制平台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4" name="" descr="&lt;Slide style={{ width: '1280px', height: '720px', background: '#FFFFFF', padding: 0, fontFamily: 'Microsoft YaHei, SimHei, sans-serif' }}&gt;&#10;    &lt;Box style={{ height: 72, background: '#1E4FA8', flexDirection: 'row', alignItems: 'center', justifyContent: 'space-between', paddingLeft: 40, paddingRight: 40 }}&gt;&#10;        &lt;Text style={{ fontSize: 30, fontWeight: 'bold', color: '#FFFFFF' }}&gt;汇报结束&lt;/Text&gt;&#10;        &lt;Text style={{ fontSize: 20, color: '#BFD3EE' }}&gt;STM32H743 与 LAN9252 电机联调阶段汇报&lt;/Text&gt;&#10;    &lt;/Box&gt;&#10;    &lt;Box style={{ height: 588, paddingTop: 24, paddingBottom: 16, paddingLeft: 40, paddingRight: 40, alignItems: 'center', justifyContent: 'center', gap: 28 }}&gt;&#10;        &lt;Text style={{ fontSize: 56, fontWeight: 'bold', color: '#0E3F8C' }}&gt;请老师批评指正&lt;/Text&gt;&#10;        &lt;Box style={{ width: 120, height: 4, background: '#1E4FA8' }} /&gt;&#10;        &lt;Box style={{ width: 1000, background: '#F7F9FC', border: '1px solid #D6DCE5', borderRadius: 8, paddingTop: 24, paddingBottom: 24, paddingLeft: 32, paddingRight: 32, gap: 12 }}&gt;&#10;            &lt;Text style={{ fontSize: 20, color: '#4A5568' }}&gt;EtherCAT/motor/openangle/SOFTWARE_VERIFICATION.md —— 逐日修改与离线验证记录&lt;/Text&gt;&#10;            &lt;Text style={{ fontSize: 20, color: '#4A5568' }}&gt;EtherCAT/motor/openangle/COMMISSIONING.md —— 实验流程说明&lt;/Text&gt;&#10;            &lt;Text style={{ fontSize: 20, color: '#4A5568' }}&gt;MDK-ARM/motor_build_openanglebenchcheck.log —— 最新延时版编译记录&lt;/Text&gt;&#10;        &lt;/Box&gt;&#10;        &lt;Text style={{ fontSize: 22, color: '#1A2230' }}&gt;已把 TwinCAT 指令接入 H743 电机执行链路，并在正给定 +6 / +12 下观察到旋转&lt;/Text&gt;&#10;    &lt;/Box&gt;&#10;    &lt;Box style={{ height: 60, flexDirection: 'row', alignItems: 'center', justifyContent: 'space-between', paddingLeft: 40, paddingRight: 40 }}&gt;&#10;        &lt;Text style={{ fontSize: 14, color: '#8B97A8' }}&gt;STM32H743-VOFA 电机控制平台&lt;/Text&gt;&#10;        &lt;Text style={{ fontSize: 16, color: '#1E4FA8' }}&gt;11 / 1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81000" y="171450"/>
            <a:ext cx="114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汇报结束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972425" y="228600"/>
            <a:ext cx="3838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STM32H743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与</a:t>
            </a:r>
            <a:r>
              <a:rPr lang="en-US" sz="1500">
                <a:solidFill>
                  <a:srgbClr val="BFD3EE"/>
                </a:solidFill>
                <a:latin typeface="Microsoft YaHei"/>
                <a:ea typeface="Microsoft YaHei"/>
              </a:rPr>
              <a:t> LAN9252 </a:t>
            </a:r>
            <a:r>
              <a:rPr lang="zh-CN" sz="1500">
                <a:solidFill>
                  <a:srgbClr val="BFD3EE"/>
                </a:solidFill>
                <a:latin typeface="Microsoft YaHei"/>
                <a:ea typeface="Microsoft YaHei"/>
              </a:rPr>
              <a:t>电机联调阶段汇报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229100" y="1971675"/>
            <a:ext cx="3733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0E3F8C"/>
                </a:solidFill>
                <a:latin typeface="Microsoft YaHei"/>
                <a:ea typeface="Microsoft YaHei"/>
              </a:rPr>
              <a:t>请老师批评指正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524500" y="2886075"/>
            <a:ext cx="11430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1333500" y="3190875"/>
            <a:ext cx="9525000" cy="1371600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638300" y="3419475"/>
            <a:ext cx="891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EtherCAT/motor/openangle/SOFTWARE_VERIFICATION.md ——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逐日修改与离线验证记录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638300" y="3762375"/>
            <a:ext cx="891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EtherCAT/motor/openangle/COMMISSIONING.md ——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实验流程说明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638300" y="4105275"/>
            <a:ext cx="891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MDK-ARM/motor_build_openanglebenchcheck.log ——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最新延时版编译记录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2257425" y="4829175"/>
            <a:ext cx="7677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已把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TwinCAT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指令接入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H743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电机执行链路，并在正给定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+6 / +12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下观察到旋转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STM32H743-VOFA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电机控制平台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296650" y="6477000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Microsoft YaHei"/>
                <a:ea typeface="Microsoft YaHei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2026-10-23T18:40:41Z</dcterms:created>
  <dcterms:modified xsi:type="dcterms:W3CDTF">2026-10-23T18:40:41Z</dcterms:modified>
</cp:coreProperties>
</file>