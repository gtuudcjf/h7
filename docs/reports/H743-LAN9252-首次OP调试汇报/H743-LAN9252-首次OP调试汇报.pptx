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0E3F8C', padding: '0px' }}&gt;&#10;    &lt;Box style={{ width: '100%', height: '12px', background: '#FFC107' }} /&gt;&#10;    &lt;Box style={{ width: '100%', height: '588px', padding: '52px 72px', justifyContent: 'space-between' }}&gt;&#10;        &lt;Box style={{ flexDirection: 'row', alignItems: 'center', gap: '16px' }}&gt;&#10;            &lt;Box style={{ background: '#1E4FA8', padding: '8px 18px', borderRadius: '4px' }}&gt;&#10;                &lt;Text style={{ fontSize: '20px', color: '#FFFFFF' }}&gt;阶段进展汇报&lt;/Text&gt;&#10;            &lt;/Box&gt;&#10;            &lt;Text style={{ fontSize: '20px', color: '#8FB0E8' }}&gt;EtherCAT 从站 bring-up&lt;/Text&gt;&#10;        &lt;/Box&gt;&#10;        &lt;Box style={{ gap: '22px' }}&gt;&#10;            &lt;Text style={{ fontSize: '56px', fontWeight: 'bold', color: '#FFFFFF', lineHeight: '1.25' }}&gt;&#10;                STM32H743 与 LAN9252&lt;br /&gt;从零进入 OP 的调试总结&#10;            &lt;/Text&gt;&#10;            &lt;Text style={{ fontSize: '26px', color: '#9DBDF0', lineHeight: '1.5' }}&gt;&#10;                Bring-up of a Minimal EtherCAT Slave on STM32H743 + LAN9252&#10;            &lt;/Text&gt;&#10;            &lt;Text style={{ fontSize: '30px', color: '#E8EFF8' }}&gt;&#10;                代码移植与实板联调阶段汇报&#10;            &lt;/Text&gt;&#10;        &lt;/Box&gt;&#10;        &lt;Box style={{ width: '100%', height: '4px', background: '#3D7BD9' }} /&gt;&#10;    &lt;/Box&gt;&#10;    &lt;Box style={{ width: '100%', height: '120px', background: '#1E4FA8', padding: '28px 72px', flexDirection: 'row', alignItems: 'center', gap: '56px' }}&gt;&#10;        &lt;Box style={{ gap: '6px' }}&gt;&#10;            &lt;Text style={{ fontSize: '16px', color: '#9DBDF0' }}&gt;汇报对象&lt;/Text&gt;&#10;            &lt;Text style={{ fontSize: '24px', color: '#FFFFFF', fontWeight: 'bold' }}&gt;指导教师&lt;/Text&gt;&#10;        &lt;/Box&gt;&#10;        &lt;Box style={{ width: '1px', height: '56px', background: '#3D7BD9' }} /&gt;&#10;        &lt;Box style={{ gap: '6px' }}&gt;&#10;            &lt;Text style={{ fontSize: '16px', color: '#9DBDF0' }}&gt;整理日期&lt;/Text&gt;&#10;            &lt;Text style={{ fontSize: '24px', color: '#FFFFFF', fontWeight: 'bold' }}&gt;2026 年 10 月 15 日&lt;/Text&gt;&#10;        &lt;/Box&gt;&#10;        &lt;Box style={{ width: '1px', height: '56px', background: '#3D7BD9' }} /&gt;&#10;        &lt;Box style={{ gap: '6px' }}&gt;&#10;            &lt;Text style={{ fontSize: '16px', color: '#9DBDF0' }}&gt;硬件平台&lt;/Text&gt;&#10;            &lt;Text style={{ fontSize: '24px', color: '#FFFFFF', fontWeight: 'bold' }}&gt;H743-VOFA 自研板卡&lt;/Text&gt;&#10;        &lt;/Box&gt;&#10;        &lt;Box style={{ width: '1px', height: '56px', background: '#3D7BD9' }} /&gt;&#10;        &lt;Box style={{ gap: '6px' }}&gt;&#10;            &lt;Text style={{ fontSize: '16px', color: '#9DBDF0' }}&gt;主站环境&lt;/Text&gt;&#10;            &lt;Text style={{ fontSize: '24px', color: '#FFFFFF', fontWeight: 'bold' }}&gt;TwinCAT 3 XAE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85800" y="609600"/>
            <a:ext cx="1485900" cy="3810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6858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阶段进展汇报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2324100" y="68580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FB0E8"/>
                </a:solidFill>
                <a:latin typeface="Microsoft YaHei"/>
                <a:ea typeface="Microsoft YaHei"/>
              </a:rPr>
              <a:t>EtherCAT </a:t>
            </a:r>
            <a:r>
              <a:rPr lang="zh-CN" sz="1500">
                <a:solidFill>
                  <a:srgbClr val="8FB0E8"/>
                </a:solidFill>
                <a:latin typeface="Microsoft YaHei"/>
                <a:ea typeface="Microsoft YaHei"/>
              </a:rPr>
              <a:t>从站</a:t>
            </a:r>
            <a:r>
              <a:rPr lang="en-US" sz="1500">
                <a:solidFill>
                  <a:srgbClr val="8FB0E8"/>
                </a:solidFill>
                <a:latin typeface="Microsoft YaHei"/>
                <a:ea typeface="Microsoft YaHei"/>
              </a:rPr>
              <a:t> bring-up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685925"/>
            <a:ext cx="10820400" cy="1600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STM32H743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LAN9252</a:t>
            </a:r>
            <a:endParaRPr/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从零进入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OP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的调试总结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3495675"/>
            <a:ext cx="108204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9DBDF0"/>
                </a:solidFill>
                <a:latin typeface="Microsoft YaHei"/>
                <a:ea typeface="Microsoft YaHei"/>
              </a:rPr>
              <a:t>Bring-up of a Minimal EtherCAT Slave on STM32H743 + LAN9252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E8EFF8"/>
                </a:solidFill>
                <a:latin typeface="Microsoft YaHei"/>
                <a:ea typeface="Microsoft YaHei"/>
              </a:rPr>
              <a:t>代码移植与实板联调阶段汇报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5181600"/>
            <a:ext cx="10820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5715000"/>
            <a:ext cx="12192000" cy="1143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60293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汇报对象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133600" y="6019800"/>
            <a:ext cx="9525" cy="5334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676525" y="602932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整理日期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676525" y="6276975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10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15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372100" y="6019800"/>
            <a:ext cx="9525" cy="5334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915025" y="6029325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硬件平台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915025" y="6276975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H743-VOFA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自研板卡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782050" y="6019800"/>
            <a:ext cx="9525" cy="5334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24975" y="6029325"/>
            <a:ext cx="173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主站环境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324975" y="6276975"/>
            <a:ext cx="1733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TwinCAT 3 XAE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汇报目录&lt;/Text&gt;&#10;        &lt;Text style={{ fontSize: '16px', color: '#9DBDF0' }}&gt;STM32H743 与 LAN9252 从零进入 OP 的调试总结&lt;/Text&gt;&#10;    &lt;/Box&gt;&#10;    &lt;Box style={{ width: '100%', height: '608px', padding: '22px 40px', gap: '12px' }}&gt;&#10;        &lt;Box style={{ width: '100%', height: '126px', background: '#F7F9FC', borderLeft: '6px solid #1E4FA8', padding: '0 24px', flexDirection: 'row', alignItems: 'center', gap: '24px' }}&gt;&#10;            &lt;Box style={{ width: '72px', height: '72px', background: '#1E4FA8', borderRadius: '6px', alignItems: 'center', justifyContent: 'center' }}&gt;&#10;                &lt;Text style={{ fontSize: '34px', fontWeight: 'bold', color: '#FFFFFF' }}&gt;01&lt;/Text&gt;&#10;            &lt;/Box&gt;&#10;            &lt;Box style={{ gap: '6px' }}&gt;&#10;                &lt;Text style={{ fontSize: '30px', fontWeight: 'bold', color: '#1A2230' }}&gt;结论与范围&lt;/Text&gt;&#10;                &lt;Text style={{ fontSize: '20px', color: '#4A5568' }}&gt;阶段结论、四个关键数据，以及本阶段已验证与未验证的边界&lt;/Text&gt;&#10;            &lt;/Box&gt;&#10;        &lt;/Box&gt;&#10;        &lt;Box style={{ width: '100%', height: '126px', background: '#F7F9FC', borderLeft: '6px #3D7BD9', padding: '0 24px', flexDirection: 'row', alignItems: 'center', gap: '24px' }}&gt;&#10;            &lt;Box style={{ width: '72px', height: '72px', background: '#3D7BD9', borderRadius: '6px', alignItems: 'center', justifyContent: 'center' }}&gt;&#10;                &lt;Text style={{ fontSize: '34px', fontWeight: 'bold', color: '#FFFFFF' }}&gt;02&lt;/Text&gt;&#10;            &lt;/Box&gt;&#10;            &lt;Box style={{ gap: '6px' }}&gt;&#10;                &lt;Text style={{ fontSize: '30px', fontWeight: 'bold', color: '#1A2230' }}&gt;系统组成与软件移植&lt;/Text&gt;&#10;                &lt;Text style={{ fontSize: '20px', color: '#4A5568' }}&gt;硬件与开发环境、隔离电机控制的策略、六层移植结构&lt;/Text&gt;&#10;            &lt;/Box&gt;&#10;        &lt;/Box&gt;&#10;        &lt;Box style={{ width: '100%', height: '126px', background: '#F7F9FC', borderLeft: '6px solid #1E4FA8', padding: '0 24px', flexDirection: 'row', alignItems: 'center', gap: '24px' }}&gt;&#10;            &lt;Box style={{ width: '72px', height: '72px', background: '#1E4FA8', borderRadius: '6px', alignItems: 'center', justifyContent: 'center' }}&gt;&#10;                &lt;Text style={{ fontSize: '34px', fontWeight: 'bold', color: '#FFFFFF' }}&gt;03&lt;/Text&gt;&#10;            &lt;/Box&gt;&#10;            &lt;Box style={{ gap: '6px' }}&gt;&#10;                &lt;Text style={{ fontSize: '30px', fontWeight: 'bold', color: '#1A2230' }}&gt;实板调试复盘&lt;/Text&gt;&#10;                &lt;Text style={{ fontSize: '20px', color: '#4A5568' }}&gt;六阶段流程与三次关键定位：EEPROM、SPI 帧连续性、HAL 毫秒 Tick 边界&lt;/Text&gt;&#10;            &lt;/Box&gt;&#10;        &lt;/Box&gt;&#10;        &lt;Box style={{ width: '100%', height: '126px', background: '#F7F9FC', borderLeft: '6px solid #3D7BD9', padding: '0 24px', flexDirection: 'row', alignItems: 'center', gap: '24px' }}&gt;&#10;            &lt;Box style={{ width: '72px', height: '72px', background: '#3D7BD9', borderRadius: '6px', alignItems: 'center', justifyContent: 'center' }}&gt;&#10;                &lt;Text style={{ fontSize: '34px', fontWeight: 'bold', color: '#FFFFFF' }}&gt;04&lt;/Text&gt;&#10;            &lt;/Box&gt;&#10;            &lt;Box style={{ gap: '6px' }}&gt;&#10;                &lt;Text style={{ fontSize: '30px', fontWeight: 'bold', color: '#1A2230' }}&gt;证据链与后续计划&lt;/Text&gt;&#10;                &lt;Text style={{ fontSize: '20px', color: '#4A5568' }}&gt;各级状态证明了什么、OP 的边界、六项后续验收与复现步骤&lt;/Text&gt;&#10;            &lt;/Box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汇报对象：指导教师 · 整理日期 2026-10-15 · 数据取自调试总结文档&lt;/Text&gt;&#10;        &lt;Text style={{ fontSize: '15px', fontWeight: 'bold', color: '#1E4FA8'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汇报目录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77225" y="247650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DBDF0"/>
                </a:solidFill>
                <a:latin typeface="Microsoft YaHei"/>
                <a:ea typeface="Microsoft YaHei"/>
              </a:rPr>
              <a:t>STM32H743 </a:t>
            </a: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9DBDF0"/>
                </a:solidFill>
                <a:latin typeface="Microsoft YaHei"/>
                <a:ea typeface="Microsoft YaHei"/>
              </a:rPr>
              <a:t> LAN9252 </a:t>
            </a: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从零进入</a:t>
            </a:r>
            <a:r>
              <a:rPr lang="en-US" sz="1200">
                <a:solidFill>
                  <a:srgbClr val="9DBDF0"/>
                </a:solidFill>
                <a:latin typeface="Microsoft YaHei"/>
                <a:ea typeface="Microsoft YaHei"/>
              </a:rPr>
              <a:t> OP </a:t>
            </a: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的调试总结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8150" y="895350"/>
            <a:ext cx="1143000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381000" y="895350"/>
            <a:ext cx="11487150" cy="1200150"/>
          </a:xfrm>
          <a:custGeom>
            <a:pathLst>
              <a:path w="1206" h="126">
                <a:moveTo>
                  <a:pt x="0" y="0"/>
                </a:moveTo>
                <a:lnTo>
                  <a:pt x="6" y="0"/>
                </a:lnTo>
                <a:lnTo>
                  <a:pt x="6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66750" y="1152525"/>
            <a:ext cx="685800" cy="6858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9625" y="130492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581150" y="1181100"/>
            <a:ext cx="5143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结论与范围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581150" y="1581150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阶段结论、四个关键数据，以及本阶段已验证与未验证的边界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8150" y="2209800"/>
            <a:ext cx="1143000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381000" y="2209800"/>
            <a:ext cx="11487150" cy="1200150"/>
          </a:xfrm>
          <a:custGeom>
            <a:pathLst>
              <a:path w="1206" h="126">
                <a:moveTo>
                  <a:pt x="0" y="0"/>
                </a:moveTo>
                <a:lnTo>
                  <a:pt x="6" y="0"/>
                </a:lnTo>
                <a:lnTo>
                  <a:pt x="6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66750" y="2466975"/>
            <a:ext cx="685800" cy="685800"/>
          </a:xfrm>
          <a:prstGeom prst="roundRect">
            <a:avLst>
              <a:gd name="adj" fmla="val 833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09625" y="261937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581150" y="2495550"/>
            <a:ext cx="457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系统组成与软件移植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581150" y="2895600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硬件与开发环境、隔离电机控制的策略、六层移植结构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38150" y="3524250"/>
            <a:ext cx="1143000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381000" y="3524250"/>
            <a:ext cx="11487150" cy="1200150"/>
          </a:xfrm>
          <a:custGeom>
            <a:pathLst>
              <a:path w="1206" h="126">
                <a:moveTo>
                  <a:pt x="0" y="0"/>
                </a:moveTo>
                <a:lnTo>
                  <a:pt x="6" y="0"/>
                </a:lnTo>
                <a:lnTo>
                  <a:pt x="6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666750" y="3781425"/>
            <a:ext cx="685800" cy="6858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9625" y="393382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581150" y="3810000"/>
            <a:ext cx="6419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实板调试复盘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581150" y="4210050"/>
            <a:ext cx="641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六阶段流程与三次关键定位：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EEPROM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SPI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帧连续性、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HAL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毫秒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Tick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38150" y="4838700"/>
            <a:ext cx="1143000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381000" y="4838700"/>
            <a:ext cx="11487150" cy="1200150"/>
          </a:xfrm>
          <a:custGeom>
            <a:pathLst>
              <a:path w="1206" h="126">
                <a:moveTo>
                  <a:pt x="0" y="0"/>
                </a:moveTo>
                <a:lnTo>
                  <a:pt x="6" y="0"/>
                </a:lnTo>
                <a:lnTo>
                  <a:pt x="6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66750" y="5095875"/>
            <a:ext cx="685800" cy="685800"/>
          </a:xfrm>
          <a:prstGeom prst="roundRect">
            <a:avLst>
              <a:gd name="adj" fmla="val 833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9625" y="524827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581150" y="5124450"/>
            <a:ext cx="5095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证据链与后续计划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581150" y="5524500"/>
            <a:ext cx="5095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各级状态证明了什么、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OP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的边界、六项后续验收与复现步骤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汇报对象：指导教师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整理日期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2026-10-15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数据取自调试总结文档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阶段结论：完整链路已打通，从站进入 OP&lt;/Text&gt;&#10;        &lt;Text style={{ fontSize: '16px', color: '#9DBDF0' }}&gt;结论先行&lt;/Text&gt;&#10;    &lt;/Box&gt;&#10;    &lt;Box style={{ width: '100%', height: '608px', padding: '16px 40px', gap: '12px' }}&gt;&#10;        &lt;Box style={{ width: '100%', flexDirection: 'row', alignItems: 'center', justifyContent: 'space-between' }}&gt;&#10;            &lt;Text style={{ fontSize: '24px', fontWeight: 'bold', color: '#1A2230' }}&gt;本阶段打通的数据通路（自左向右）&lt;/Text&gt;&#10;            &lt;Box style={{ background: '#E8EFF8', padding: '6px 14px', borderRadius: '4px' }}&gt;&#10;                &lt;Text style={{ fontSize: '18px', color: '#1E4FA8' }}&gt;2026-10-15 实板实测&lt;/Text&gt;&#10;            &lt;/Box&gt;&#10;        &lt;/Box&gt;&#10;        &lt;Box style={{ width: '100%', height: '104px', background: '#F7F9FC', border: '1px solid #D6DCE5', borderRadius: '6px', padding: '0 16px', flexDirection: 'row', alignItems: 'center', justifyContent: 'space-between' }}&gt;&#10;            &lt;Box style={{ width: '200px', height: '68px', background: '#1E4FA8', borderRadius: '6px', alignItems: 'center', justifyContent: 'center' }}&gt;&#10;                &lt;Text style={{ fontSize: '21px', fontWeight: 'bold', color: '#FFFFFF' }}&gt;PC 主站网口&lt;/Text&gt;&#10;            &lt;/Box&gt;&#10;            &lt;Text style={{ fontSize: '30px', fontWeight: 'bold', color: '#3D7BD9' }}&gt;→&lt;/Text&gt;&#10;            &lt;Box style={{ width: '190px', height: '68px', background: '#1E4FA8', borderRadius: '6px', alignItems: 'center', justifyContent: 'center' }}&gt;&#10;                &lt;Text style={{ fontSize: '21px', fontWeight: 'bold', color: '#FFFFFF' }}&gt;LAN9252 ESC&lt;/Text&gt;&#10;            &lt;/Box&gt;&#10;            &lt;Text style={{ fontSize: '30px', fontWeight: 'bold', color: '#3D7BD9' }}&gt;→&lt;/Text&gt;&#10;            &lt;Box style={{ width: '150px', height: '68px', background: '#1E4FA8', borderRadius: '6px', alignItems: 'center', justifyContent: 'center' }}&gt;&#10;                &lt;Text style={{ fontSize: '21px', fontWeight: 'bold', color: '#FFFFFF' }}&gt;SPI1 4 MHz&lt;/Text&gt;&#10;            &lt;/Box&gt;&#10;            &lt;Text style={{ fontSize: '30px', fontWeight: 'bold', color: '#3D7BD9' }}&gt;→&lt;/Text&gt;&#10;            &lt;Box style={{ width: '190px', height: '68px', background: '#1E4FA8', borderRadius: '6px', alignItems: 'center', justifyContent: 'center' }}&gt;&#10;                &lt;Text style={{ fontSize: '21px', fontWeight: 'bold', color: '#FFFFFF' }}&gt;H743 协议栈&lt;/Text&gt;&#10;            &lt;/Box&gt;&#10;            &lt;Text style={{ fontSize: '30px', fontWeight: 'bold', color: '#3D7BD9' }}&gt;→&lt;/Text&gt;&#10;            &lt;Box style={{ width: '190px', height: '68px', background: '#3D7BD9', borderRadius: '6px', alignItems: 'center', justifyContent: 'center' }}&gt;&#10;                &lt;Text style={{ fontSize: '21px', fontWeight: 'bold', color: '#FFFFFF' }}&gt;周期输入数据&lt;/Text&gt;&#10;            &lt;/Box&gt;&#10;        &lt;/Box&gt;&#10;        &lt;Box style={{ width: '100%', height: '230px', flexDirection: 'row', gap: '13px' }}&gt;&#10;            &lt;Box style={{ width: '290px', height: '230px', background: '#F7F9FC', border: '1px solid #D6DCE5', borderRadius: '6px', padding: '18px 20px', justifyContent: 'space-between' }}&gt;&#10;                &lt;Text style={{ fontSize: '20px', color: '#4A5568' }}&gt;InfoData.State&lt;/Text&gt;&#10;                &lt;Text style={{ fontSize: '76px', fontWeight: 'bold', color: '#1E4FA8', lineHeight: '1' }}&gt;8&lt;/Text&gt;&#10;                &lt;Text style={{ fontSize: '18px', color: '#8B97A8' }}&gt;AL 状态 = OP，主站请求与当前状态一致&lt;/Text&gt;&#10;            &lt;/Box&gt;&#10;            &lt;Box style={{ width: '290px', height: '230px', background: '#F7F9FC', border: '1px solid #D6DCE5', borderRadius: '6px', padding: '18px 20px', justifyContent: 'space-between' }}&gt;&#10;                &lt;Text style={{ fontSize: '20px', color: '#4A5568' }}&gt;WcState&lt;/Text&gt;&#10;                &lt;Text style={{ fontSize: '76px', fontWeight: 'bold', color: '#1E4FA8', lineHeight: '1' }}&gt;0&lt;/Text&gt;&#10;                &lt;Text style={{ fontSize: '18px', color: '#8B97A8' }}&gt;过程数据工作计数正常，无丢帧指示&lt;/Text&gt;&#10;            &lt;/Box&gt;&#10;            &lt;Box style={{ width: '290px', height: '230px', background: '#F7F9FC', border: '1px solid #D6DCE5', borderRadius: '6px', padding: '18px 20px', justifyContent: 'space-between' }}&gt;&#10;                &lt;Text style={{ fontSize: '20px', color: '#4A5568' }}&gt;CycleCounter&lt;/Text&gt;&#10;                &lt;Text style={{ fontSize: '76px', fontWeight: 'bold', color: '#1E4FA8', lineHeight: '1' }}&gt;2127&lt;/Text&gt;&#10;                &lt;Text style={{ fontSize: '18px', color: '#8B97A8' }}&gt;有效应用迭代计数，非总线周期频率计&lt;/Text&gt;&#10;            &lt;/Box&gt;&#10;            &lt;Box style={{ width: '290px', height: '230px', background: '#E8EFF8', border: '1px solid #3D7BD9', borderRadius: '6px', padding: '18px 20px', justifyContent: 'space-between' }}&gt;&#10;                &lt;Text style={{ fontSize: '20px', color: '#4A5568' }}&gt;主站错误数&lt;/Text&gt;&#10;                &lt;Text style={{ fontSize: '76px', fontWeight: 'bold', color: '#1E4FA8', lineHeight: '1' }}&gt;0&lt;/Text&gt;&#10;                &lt;Text style={{ fontSize: '18px', color: '#8B97A8' }}&gt;错误栏为 0，仍有 1 条未展开警告待补录&lt;/Text&gt;&#10;            &lt;/Box&gt;&#10;        &lt;/Box&gt;&#10;        &lt;Box style={{ width: '100%', height: '100px', background: '#0E3F8C', borderRadius: '6px', padding: '0 24px', flexDirection: 'row', alignItems: 'center', gap: '16px' }}&gt;&#10;            &lt;Box style={{ width: '8px', height: '60px', background: '#FFC107' }} /&gt;&#10;            &lt;Text style={{ fontSize: '23px', color: '#FFFFFF', lineHeight: '1.5' }}&gt;&#10;                OP 已经在实板上实现，但不等于长期稳定性、1 ms 实时性能或电机 EtherCAT 控制已经验收&#10;            &lt;/Text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TwinCAT 3 Box 1 Online 最终截图（2026-10-15）&lt;/Text&gt;&#10;        &lt;Text style={{ fontSize: '15px', fontWeight: 'bold', color: '#1E4FA8'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6086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阶段结论：完整链路已打通，从站进入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OP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201400" y="247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结论先行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81000" y="86677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本阶段打通的数据通路（自左向右）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9848850" y="838200"/>
            <a:ext cx="1962150" cy="323850"/>
          </a:xfrm>
          <a:prstGeom prst="roundRect">
            <a:avLst>
              <a:gd name="adj" fmla="val 1176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982200" y="8953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2026-10-15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实板实测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81000" y="1276350"/>
            <a:ext cx="11430000" cy="990600"/>
          </a:xfrm>
          <a:prstGeom prst="roundRect">
            <a:avLst>
              <a:gd name="adj" fmla="val 576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533400" y="1447800"/>
            <a:ext cx="1905000" cy="647700"/>
          </a:xfrm>
          <a:prstGeom prst="roundRect">
            <a:avLst>
              <a:gd name="adj" fmla="val 88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23925" y="1647825"/>
            <a:ext cx="1133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PC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主站网口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590800" y="16002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3028950" y="1447800"/>
            <a:ext cx="1809750" cy="647700"/>
          </a:xfrm>
          <a:prstGeom prst="roundRect">
            <a:avLst>
              <a:gd name="adj" fmla="val 88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257550" y="1647825"/>
            <a:ext cx="1362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LAN9252 ESC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991100" y="16002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429250" y="1447800"/>
            <a:ext cx="1428750" cy="647700"/>
          </a:xfrm>
          <a:prstGeom prst="roundRect">
            <a:avLst>
              <a:gd name="adj" fmla="val 88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562600" y="1647825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SPI1 4 MHz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010400" y="16002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448550" y="1447800"/>
            <a:ext cx="1809750" cy="647700"/>
          </a:xfrm>
          <a:prstGeom prst="roundRect">
            <a:avLst>
              <a:gd name="adj" fmla="val 88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753350" y="16478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H743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协议栈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410700" y="16002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9848850" y="1447800"/>
            <a:ext cx="1809750" cy="647700"/>
          </a:xfrm>
          <a:prstGeom prst="roundRect">
            <a:avLst>
              <a:gd name="adj" fmla="val 882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0153650" y="16478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周期输入数据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381000" y="2381250"/>
            <a:ext cx="2762250" cy="219075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2552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InfoData.State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71500" y="2943225"/>
            <a:ext cx="2381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1500" y="3981450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AL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状态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= OP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，主站请求与当前状态一致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3267075" y="2381250"/>
            <a:ext cx="2762250" cy="219075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457575" y="2552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WcState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457575" y="2943225"/>
            <a:ext cx="2381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457575" y="3981450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过程数据工作计数正常，无丢帧指示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153150" y="2381250"/>
            <a:ext cx="2762250" cy="219075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343650" y="2552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CycleCounter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343650" y="2943225"/>
            <a:ext cx="2381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2127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343650" y="3981450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有效应用迭代计数，非总线周期频率计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9039225" y="2381250"/>
            <a:ext cx="2762250" cy="2190750"/>
          </a:xfrm>
          <a:prstGeom prst="roundRect">
            <a:avLst>
              <a:gd name="adj" fmla="val 2609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229725" y="2552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主站错误数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229725" y="2943225"/>
            <a:ext cx="2381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229725" y="3981450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错误栏为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0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，仍有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条未展开警告待补录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381000" y="4686300"/>
            <a:ext cx="11430000" cy="952500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4876800"/>
            <a:ext cx="76200" cy="5715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4962525"/>
            <a:ext cx="90392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FFFFFF"/>
                </a:solidFill>
                <a:latin typeface="Microsoft YaHei"/>
                <a:ea typeface="Microsoft YaHei"/>
              </a:rPr>
              <a:t>OP 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已经在实板上实现，但不等于长期稳定性、</a:t>
            </a:r>
            <a:r>
              <a:rPr lang="en-US" sz="1725">
                <a:solidFill>
                  <a:srgbClr val="FFFFFF"/>
                </a:solidFill>
                <a:latin typeface="Microsoft YaHei"/>
                <a:ea typeface="Microsoft YaHei"/>
              </a:rPr>
              <a:t>1 ms 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实时性能或电机</a:t>
            </a:r>
            <a:r>
              <a:rPr lang="en-US" sz="1725">
                <a:solidFill>
                  <a:srgbClr val="FFFFFF"/>
                </a:solidFill>
                <a:latin typeface="Microsoft YaHei"/>
                <a:ea typeface="Microsoft YaHei"/>
              </a:rPr>
              <a:t> EtherCAT 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控制已经验收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762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TwinCAT 3 Box 1 Online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最终截图（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2026-10-15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55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本阶段的验证范围：已验证与未验证&lt;/Text&gt;&#10;        &lt;Text style={{ fontSize: '16px', color: '#9DBDF0' }}&gt;结论与范围&lt;/Text&gt;&#10;    &lt;/Box&gt;&#10;    &lt;Box style={{ width: '100%', height: '608px', padding: '14px 40px', gap: '12px' }}&gt;&#10;        &lt;Table&#10;            style={{ width: '100%', height: '480px' }}&#10;            defaultTextStyle={{ fontSize: '20px', textAlign: 'left', color: '#1A2230' }}&#10;            defaultCellStyle={{&#10;                padding: '10px 16px',&#10;                border: {&#10;                    left: { width: 1, color: '#E5E7EB' },&#10;                    right: { width: 1, color: '#E5E7EB' },&#10;                    top: { width: 1, color: '#E5E7EB' },&#10;                    bottom: { width: 1, color: '#E5E7EB' },&#10;                },&#10;            }}&#10;            cells={[&#10;                [&#10;                    { text: '验证项目', textStyle: { bold: true, color: '#FFFFFF', fontSize: '21px' }, cellStyle: { background: { color: '#0E3F8C' } } },&#10;                    { text: '当前结论', textStyle: { bold: true, color: '#FFFFFF', fontSize: '21px' }, cellStyle: { background: { color: '#0E3F8C' } } },&#10;                    { text: '判定', textStyle: { bold: true, color: '#FFFFFF', fontSize: '21px' }, cellStyle: { background: { color: '#0E3F8C' } } },&#10;                ],&#10;                [&#10;                    { text: 'LAN9252 SPI 基础读写', cellStyle: { background: { color: '#FFFFFF' } } },&#10;                    { text: '实板读到正确的 BYTE_TEST 与 ID_REV', cellStyle: { background: { color: '#FFFFFF' } } },&#10;                    { text: '已验证', textStyle: { bold: true, color: '#1E4FA8' }, cellStyle: { background: { color: '#FFFFFF' } } },&#10;                ],&#10;                [&#10;                    { text: 'EEPROM 配置装载', cellStyle: { background: { color: '#F7F9FC' } } },&#10;                    { text: '写入后设备身份恢复，PDI 类型读到 0x80', cellStyle: { background: { color: '#F7F9FC' } } },&#10;                    { text: '已验证', textStyle: { bold: true, color: '#1E4FA8' }, cellStyle: { background: { color: '#F7F9FC' } } },&#10;                ],&#10;                [&#10;                    { text: 'CoE 邮箱通信', cellStyle: { background: { color: '#FFFFFF' } } },&#10;                    { text: '在线读取对象字典与 0x1018 身份成功', cellStyle: { background: { color: '#FFFFFF' } } },&#10;                    { text: '已验证', textStyle: { bold: true, color: '#1E4FA8' }, cellStyle: { background: { color: '#FFFFFF' } } },&#10;                ],&#10;                [&#10;                    { text: 'SAFEOP 与 OP', cellStyle: { background: { color: '#F7F9FC' } } },&#10;                    { text: '已有实板状态截图，State 分别为 4 与 8', cellStyle: { background: { color: '#F7F9FC' } } },&#10;                    { text: '已验证', textStyle: { bold: true, color: '#1E4FA8' }, cellStyle: { background: { color: '#F7F9FC' } } },&#10;                ],&#10;                [&#10;                    { text: '周期输入处理', cellStyle: { background: { color: '#FFFFFF' } } },&#10;                    { text: 'OP 截图中计数器已非零，持续性需连续记录', cellStyle: { background: { color: '#FFFFFF' } } },&#10;                    { text: '部分', textStyle: { bold: true, color: '#1A2230' }, cellStyle: { background: { color: '#FFFFFF' } } },&#10;                ],&#10;                [&#10;                    { text: '非零控制字回环', cellStyle: { background: { color: '#F7F9FC' } } },&#10;                    { text: '代码与主机测试支持，尚未完成实板序列验收', cellStyle: { background: { color: '#F7F9FC' } } },&#10;                    { text: '未完成', textStyle: { bold: true, color: '#D9534F' }, cellStyle: { background: { color: '#F7F9FC' } } },&#10;                ],&#10;                [&#10;                    { text: '长时间与重复冷启动', cellStyle: { background: { color: '#FFFFFF' } } },&#10;                    { text: '待补充正式记录', cellStyle: { background: { color: '#FFFFFF' } } },&#10;                    { text: '未完成', textStyle: { bold: true, color: '#D9534F' }, cellStyle: { background: { color: '#FFFFFF' } } },&#10;                ],&#10;                [&#10;                    { text: '电机闭环与 DC 同步', cellStyle: { background: { color: '#F7F9FC' } } },&#10;                    { text: '不在本阶段实施范围', cellStyle: { background: { color: '#F7F9FC' } } },&#10;                    { text: '范围外', textStyle: { bold: true, color: '#8B97A8' }, cellStyle: { background: { color: '#F7F9FC' } } },&#10;                ],&#10;            ]}&#10;        /&gt;&#10;        &lt;Box style={{ width: '100%', height: '84px', background: '#E8EFF8', borderLeft: '6px solid #1E4FA8', borderRadius: '6px', padding: '0 24px', flexDirection: 'row', alignItems: 'center', gap: '16px' }}&gt;&#10;            &lt;Text style={{ fontSize: '22px', color: '#1A2230', lineHeight: '1.5' }}&gt;&#10;                前四项构成本阶段的完整证据；周期输入仅证明发生过有效迭代，稳定性与电机联动留待下一阶段验收&#10;            &lt;/Text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「当前结果的范围」节&lt;/Text&gt;&#10;        &lt;Text style={{ fontSize: '15px', fontWeight: 'bold', color: '#1E4FA8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本阶段的验证范围：已验证与未验证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049000" y="2476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结论与范围</a:t>
            </a:r>
            <a:endParaRPr/>
          </a:p>
        </p:txBody>
      </p:sp>
      <p:graphicFrame>
        <p:nvGraphicFramePr>
          <p:cNvPr id="260" name=""/>
          <p:cNvGraphicFramePr/>
          <p:nvPr/>
        </p:nvGraphicFramePr>
        <p:xfrm rot="0" flipH="0" flipV="0">
          <a:off x="381000" y="819150"/>
          <a:ext cx="11430000" cy="4572000"/>
        </p:xfrm>
        <a:graphic>
          <a:graphicData uri="http://schemas.openxmlformats.org/drawingml/2006/table">
            <a:tbl>
              <a:tblGrid>
                <a:gridCol w="3594136">
                  <a:extLst>
                    <a:ext uri="{9D8B030D-6E8A-4147-A177-3AD203B41FA5}">
                      <a16:colId val="1"/>
                    </a:ext>
                  </a:extLst>
                </a:gridCol>
                <a:gridCol w="6670198">
                  <a:extLst>
                    <a:ext uri="{9D8B030D-6E8A-4147-A177-3AD203B41FA5}">
                      <a16:colId val="2"/>
                    </a:ext>
                  </a:extLst>
                </a:gridCol>
                <a:gridCol w="116566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验证项目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当前结论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LAN9252 SPI 基础读写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实板读到正确的 BYTE_TEST 与 ID_REV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EEPROM 配置装载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写入后设备身份恢复，PDI 类型读到 0x80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CoE 邮箱通信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在线读取对象字典与 0x1018 身份成功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SAFEOP 与 OP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已有实板状态截图，State 分别为 4 与 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周期输入处理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OP 截图中计数器已非零，持续性需连续记录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部分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非零控制字回环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代码与主机测试支持，尚未完成实板序列验收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未完成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长时间与重复冷启动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待补充正式记录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未完成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08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电机闭环与 DC 同步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不在本阶段实施范围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范围外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61" name=""/>
          <p:cNvSpPr/>
          <p:nvPr/>
        </p:nvSpPr>
        <p:spPr>
          <a:xfrm rot="0" flipH="0" flipV="0">
            <a:off x="438150" y="5505450"/>
            <a:ext cx="11430000" cy="800100"/>
          </a:xfrm>
          <a:prstGeom prst="roundRect">
            <a:avLst>
              <a:gd name="adj" fmla="val 714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438150" y="5505450"/>
            <a:ext cx="11430000" cy="800100"/>
          </a:xfrm>
          <a:custGeom>
            <a:pathLst>
              <a:path w="1200" h="84">
                <a:moveTo>
                  <a:pt x="6" y="84"/>
                </a:move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8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66750" y="5715000"/>
            <a:ext cx="94297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前四项构成本阶段的完整证据；周期输入仅证明发生过有效迭代，稳定性与电机联动留待下一阶段验收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数据来源：调试总结文档第「当前结果的范围」节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66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系统组成与最小验证目标&lt;/Text&gt;&#10;        &lt;Text style={{ fontSize: '16px', color: '#9DBDF0' }}&gt;系统组成与软件移植&lt;/Text&gt;&#10;    &lt;/Box&gt;&#10;    &lt;Box style={{ width: '100%', height: '608px', padding: '20px 40px', flexDirection: 'row', gap: '20px' }}&gt;&#10;        &lt;Box style={{ width: '560px', height: '568px', background: '#F7F9FC', border: '1px solid #D6DCE5', borderRadius: '6px', padding: '0 0 18px 0', justifyContent: 'space-between' }}&gt;&#10;            &lt;Box style={{ width: '100%', height: '48px', background: '#1E4FA8', padding: '0 20px', flexDirection: 'row', alignItems: 'center', justifyContent: 'space-between' }}&gt;&#10;                &lt;Text style={{ fontSize: '26px', fontWeight: 'bold', color: '#FFFFFF' }}&gt;硬件与开发环境&lt;/Text&gt;&#10;                &lt;Text style={{ fontSize: '17px', color: '#B9CCEE' }}&gt;台架&lt;/Text&gt;&#10;            &lt;/Box&gt;&#10;            &lt;Box style={{ padding: '0 22px', gap: '10px' }}&gt;&#10;                &lt;Text style={{ fontSize: '21px', color: '#1A2230', lineHeight: '1.6' }}&gt;&#10;                    应用控制器为 &lt;span style={{ fontWeight: 'bold', color: '#1E4FA8' }}&gt;STM32H743&lt;/span&gt;，从站控制器为 &lt;span style={{ fontWeight: 'bold', color: '#1E4FA8' }}&gt;LAN9252&lt;/span&gt;（片内集成以太网 PHY）&#10;                &lt;/Text&gt;&#10;                &lt;Text style={{ fontSize: '21px', color: '#1A2230', lineHeight: '1.6' }}&gt;&#10;                    LAN9252 外接串行 EEPROM、25 MHz 晶振与两个网口；PC 经专用网线接从站 IN 口&#10;                &lt;/Text&gt;&#10;                &lt;Text style={{ fontSize: '21px', color: '#1A2230', lineHeight: '1.6' }}&gt;&#10;                    H743 经独立 SPI1 访问 LAN9252，与 PC 侧 EtherCAT 网口是两条不同的访问路径&#10;                &lt;/Text&gt;&#10;                &lt;Text style={{ fontSize: '21px', color: '#1A2230', lineHeight: '1.6' }}&gt;&#10;                    环境：Windows + Keil MDK，ARMCC 5.06u5，STM32Cube H7 V1.12.1&#10;                &lt;/Text&gt;&#10;                &lt;Text style={{ fontSize: '21px', color: '#1A2230', lineHeight: '1.6' }}&gt;&#10;                    主站：TwinCAT 3 XAE（build 4024.65），本阶段关闭 DC，采用轮询 FreeRun&#10;                &lt;/Text&gt;&#10;            &lt;/Box&gt;&#10;            &lt;Box style={{ padding: '0 22px' }}&gt;&#10;                &lt;Text style={{ fontSize: '18px', color: '#8B97A8', lineHeight: '1.5' }}&gt;&#10;                    注：当前笔记本网卡仅用于台架功能实验，不能推导正式实时网卡兼容性&#10;                &lt;/Text&gt;&#10;            &lt;/Box&gt;&#10;        &lt;/Box&gt;&#10;        &lt;Box style={{ width: '620px', height: '568px', background: '#FFFFFF', border: '1px solid #D6DCE5', borderRadius: '6px', padding: '18px 20px', gap: '12px' }}&gt;&#10;            &lt;Text style={{ fontSize: '26px', fontWeight: 'bold', color: '#1E4FA8' }}&gt;SPI1 与关键控制引脚&lt;/Text&gt;&#10;            &lt;Table&#10;                style={{ width: '100%', height: '360px' }}&#10;                defaultTextStyle={{ fontSize: '19px', textAlign: 'left', color: '#1A2230' }}&#10;                defaultCellStyle={{&#10;                    padding: '8px 14px',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信号', textStyle: { bold: true, color: '#FFFFFF', fontSize: '20px' }, cellStyle: { background: { color: '#0E3F8C' } } },&#10;                        { text: '引脚', textStyle: { bold: true, color: '#FFFFFF', fontSize: '20px' }, cellStyle: { background: { color: '#0E3F8C' } } },&#10;                        { text: '配置与用途', textStyle: { bold: true, color: '#FFFFFF', fontSize: '20px' }, cellStyle: { background: { color: '#0E3F8C' } } },&#10;                    ],&#10;                    [&#10;                        { text: 'CS', cellStyle: { background: { color: '#FFFFFF' } } },&#10;                        { text: 'PA4', cellStyle: { background: { color: '#FFFFFF' } } },&#10;                        { text: 'GPIO 推挽，空闲高，软件控制片选', cellStyle: { background: { color: '#FFFFFF' } } },&#10;                    ],&#10;                    [&#10;                        { text: 'SCK', cellStyle: { background: { color: '#F7F9FC' } } },&#10;                        { text: 'PA5', cellStyle: { background: { color: '#F7F9FC' } } },&#10;                        { text: 'SPI1 AF5，分频后 4 MHz', cellStyle: { background: { color: '#F7F9FC' } } },&#10;                    ],&#10;                    [&#10;                        { text: 'MISO', cellStyle: { background: { color: '#FFFFFF' } } },&#10;                        { text: 'PA6', cellStyle: { background: { color: '#FFFFFF' } } },&#10;                        { text: 'SPI1 AF5，LAN9252 返回数据', cellStyle: { background: { color: '#FFFFFF' } } },&#10;                    ],&#10;                    [&#10;                        { text: 'MOSI', cellStyle: { background: { color: '#F7F9FC' } } },&#10;                        { text: 'PA7', cellStyle: { background: { color: '#F7F9FC' } } },&#10;                        { text: 'SPI1 AF5，H743 发送数据', cellStyle: { background: { color: '#F7F9FC' } } },&#10;                    ],&#10;                    [&#10;                        { text: 'SYNC0/1', cellStyle: { background: { color: '#FFFFFF' } } },&#10;                        { text: 'PE0/PE1', cellStyle: { background: { color: '#FFFFFF' } } },&#10;                        { text: '普通输入，本阶段不启用同步中断', cellStyle: { background: { color: '#FFFFFF' } } },&#10;                    ],&#10;                    [&#10;                        { text: 'IRQ', cellStyle: { background: { color: '#F7F9FC' } } },&#10;                        { text: 'PE3', cellStyle: { background: { color: '#F7F9FC' } } },&#10;                        { text: '普通输入，本阶段轮询，不启用 EXTI', cellStyle: { background: { color: '#F7F9FC' } } },&#10;                    ],&#10;                    [&#10;                        { text: 'DRV enable', cellStyle: { background: { color: '#FFFFFF' } } },&#10;                        { text: 'PC4', cellStyle: { background: { color: '#FFFFFF' } } },&#10;                        { text: '调试模式明确拉低，功率级禁用', cellStyle: { background: { color: '#FFFFFF' } } },&#10;                    ],&#10;                ]}&#10;            /&gt;&#10;            &lt;Box style={{ width: '100%', background: '#E8EFF8', borderRadius: '6px', padding: '12px 16px' }}&gt;&#10;                &lt;Text style={{ fontSize: '19px', color: '#1A2230', lineHeight: '1.5' }}&gt;&#10;                    SPI1 配置：主机全双工、8 位、MSB first、Mode 0、软件 NSS、无 NSS pulse&#10;                &lt;/Text&gt;&#10;            &lt;/Box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 1 节「系统组成与最小验证目标」&lt;/Text&gt;&#10;        &lt;Text style={{ fontSize: '15px', fontWeight: 'bold', color: '#1E4FA8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系统组成与最小验证目标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439400" y="247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系统组成与软件移植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381000" y="876300"/>
            <a:ext cx="5334000" cy="5410200"/>
          </a:xfrm>
          <a:prstGeom prst="roundRect">
            <a:avLst>
              <a:gd name="adj" fmla="val 107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381000" y="876300"/>
            <a:ext cx="5334000" cy="457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9525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硬件与开发环境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200650" y="10096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9CCEE"/>
                </a:solidFill>
                <a:latin typeface="Microsoft YaHei"/>
                <a:ea typeface="Microsoft YaHei"/>
              </a:rPr>
              <a:t>台架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90550" y="1333500"/>
            <a:ext cx="49149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应用控制器为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STM32H743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，从站控制器为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LAN9252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（片内集成以太网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PHY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0550" y="2200275"/>
            <a:ext cx="49149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LAN9252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外接串行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EEPROM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25 MHz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晶振与两个网口；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PC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经专用网线接从站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IN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口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90550" y="3067050"/>
            <a:ext cx="49149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H743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经独立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SPI1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访问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LAN9252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，与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PC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侧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EtherCAT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网口是两条不同的访问路径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90550" y="3933825"/>
            <a:ext cx="49149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环境：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Windows + Keil MDK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ARMCC 5.06u5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STM32Cube H7 V1.12.1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90550" y="4800600"/>
            <a:ext cx="49149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主站：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TwinCAT 3 XAE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build 4024.65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），本阶段关闭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DC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，采用轮询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FreeRun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90550" y="5572125"/>
            <a:ext cx="4914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注：当前笔记本网卡仅用于台架功能实验，不能推导正式实时网卡兼容性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905500" y="876300"/>
            <a:ext cx="5905500" cy="5410200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0" y="1047750"/>
            <a:ext cx="5524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SPI1 </a:t>
            </a: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与关键控制引脚</a:t>
            </a:r>
            <a:endParaRPr/>
          </a:p>
        </p:txBody>
      </p:sp>
      <p:graphicFrame>
        <p:nvGraphicFramePr>
          <p:cNvPr id="283" name=""/>
          <p:cNvGraphicFramePr/>
          <p:nvPr/>
        </p:nvGraphicFramePr>
        <p:xfrm rot="0" flipH="0" flipV="0">
          <a:off x="6096000" y="1466850"/>
          <a:ext cx="5524500" cy="3429000"/>
        </p:xfrm>
        <a:graphic>
          <a:graphicData uri="http://schemas.openxmlformats.org/drawingml/2006/table">
            <a:tbl>
              <a:tblGrid>
                <a:gridCol w="1237051">
                  <a:extLst>
                    <a:ext uri="{9D8B030D-6E8A-4147-A177-3AD203B41FA5}">
                      <a16:colId val="1"/>
                    </a:ext>
                  </a:extLst>
                </a:gridCol>
                <a:gridCol w="901706">
                  <a:extLst>
                    <a:ext uri="{9D8B030D-6E8A-4147-A177-3AD203B41FA5}">
                      <a16:colId val="2"/>
                    </a:ext>
                  </a:extLst>
                </a:gridCol>
                <a:gridCol w="338574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引脚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配置与用途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GPIO 推挽，空闲高，软件控制片选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SPI1 AF5，分频后 4 MHz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MISO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SPI1 AF5，LAN9252 返回数据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MOSI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SPI1 AF5，H743 发送数据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SYNC0/1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PE0/PE1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普通输入，本阶段不启用同步中断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IRQ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PE3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普通输入，本阶段轮询，不启用 EXTI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28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DRV enable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PC4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调试模式明确拉低，功率级禁用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284" name=""/>
          <p:cNvSpPr/>
          <p:nvPr/>
        </p:nvSpPr>
        <p:spPr>
          <a:xfrm rot="0" flipH="0" flipV="0">
            <a:off x="6096000" y="5010150"/>
            <a:ext cx="5524500" cy="885825"/>
          </a:xfrm>
          <a:prstGeom prst="roundRect">
            <a:avLst>
              <a:gd name="adj" fmla="val 645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248400" y="5124450"/>
            <a:ext cx="52197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SPI1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配置：主机全双工、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8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位、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MSB first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Mode 0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、软件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NSS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、无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NSS pulse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629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节「系统组成与最小验证目标」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88" name="" descr="&lt;Slide style={{ width: '1280px', height: '720px', background: '#FFFFFF', padding: '0px' }}&gt;&#13;&#10;    &lt;Box style={{ width: '100%', height: '72px', background: '#0E3F8C', padding: '0 40px', flexDirection: 'row', alignItems: 'center', justifyContent: 'space-between' }}&gt;&#13;&#10;        &lt;Text style={{ fontSize: '34px', fontWeight: 'bold', color: '#FFFFFF' }}&gt;为什么先做通信，而不接入电机控制&lt;/Text&gt;&#13;&#10;        &lt;Text style={{ fontSize: '16px', color: '#9DBDF0' }}&gt;系统组成与软件移植&lt;/Text&gt;&#13;&#10;    &lt;/Box&gt;&#13;&#10;    &lt;Box style={{ width: '100%', height: '608px', padding: '20px 40px', gap: '12px' }}&gt;&#13;&#10;        &lt;Box style={{ width: '100%', height: '460px', flexDirection: 'row', gap: '20px' }}&gt;&#13;&#10;            &lt;Box style={{ width: '550px', height: '460px', background: '#F7F9FC', border: '1px solid #D6DCE5', borderRadius: '6px', padding: '0 22px 20px 22px', gap: '10px' }}&gt;&#13;&#10;                &lt;Box style={{ width: '100%', height: '48px', flexDirection: 'row', alignItems: 'center', gap: '10px' }}&gt;&#13;&#10;                    &lt;Box style={{ width: '8px', height: '28px', background: '#D9534F' }} /&gt;&#13;&#10;                    &lt;Text style={{ fontSize: '26px', fontWeight: 'bold', color: '#1A2230' }}&gt;不隔离会怎样&lt;/Text&gt;&#13;&#10;                &lt;/Box&gt;&#13;&#10;                &lt;Text style={{ fontSize: '20px', color: '#4A5568', lineHeight: '1.6' }}&gt;&#13;&#10;                    原 H743 工程已经包含电机、编码器、ADC、PWM 与 VOFA 相关功能&#13;&#10;                &lt;/Text&gt;&#13;&#10;                &lt;Text style={{ fontSize: '20px', color: '#4A5568', lineHeight: '1.6' }}&gt;&#13;&#10;                    若首次 EtherCAT 调试时同时启动这些功能，会增加时序干扰&#13;&#10;                &lt;/Text&gt;&#13;&#10;                &lt;Text style={{ fontSize: '20px', color: '#4A5568', lineHeight: '1.6' }}&gt;&#13;&#10;                    更危险的是可能把主站输出误当成电机指令，造成功率级动作&#13;&#10;                &lt;/Text&gt;&#13;&#10;                &lt;Text style={{ fontSize: '20px', color: '#4A5568', lineHeight: '1.6' }}&gt;&#13;&#10;                    故障现象也会被多个子系统叠加掩盖，难以定位到具体层次&#13;&#10;                &lt;/Text&gt;&#13;&#10;                &lt;Box style={{ width: '100%', background: '#FFFFFF', border: '1px solid #E5E7EB', borderRadius: '6px', padding: '12px 16px' }}&gt;&#13;&#10;                    &lt;Text style={{ fontSize: '19px', color: '#8B97A8' }}&gt;本质问题：变量不唯一，无法做单因素对照&lt;/Text&gt;&#13;&#10;                &lt;/Box&gt;&#13;&#10;            &lt;/Box&gt;&#13;&#10;            &lt;Box style={{ width: '50px', height: '460px', alignItems: 'center', justifyContent: 'center' }}&gt;&#13;&#10;                &lt;Box style={{ width: '46px', height: '46px', borderRadius: '28px', background: '#1E4FA8', alignItems: 'center', justifyContent: 'center' }}&gt;&#13;&#10;                    &lt;Text style={{ fontSize: '24px', fontWeight: 'bold', color: '#FFFFFF' }}&gt;VS&lt;/Text&gt;&#13;&#10;                &lt;/Box&gt;&#13;&#10;            &lt;/Box&gt;&#13;&#10;            &lt;Box style={{ width: '550px', height: '460px', background: '#F7F9FC', border: '1px solid #D6DCE5', borderRadius: '6px', padding: '0 22px 20px 22px', gap: '10px' }}&gt;&#13;&#10;                &lt;Box style={{ width: '100%', height: '48px', flexDirection: 'row', alignItems: 'center', gap: '10px' }}&gt;&#13;&#10;                    &lt;Box style={{ width: '8px', height: '28px', background: '#1E4FA8' }} /&gt;&#13;&#10;                    &lt;Text style={{ fontSize: '26px', fontWeight: 'bold', color: '#1A2230' }}&gt;隔离后只做什么&lt;/Text&gt;&#13;&#10;                &lt;/Box&gt;&#13;&#10;                &lt;Text style={{ fontSize: '20px', color: '#4A5568', lineHeight: '1.6' }}&gt;&#13;&#10;                    编译宏 &lt;span style={{ fontWeight: 'bold', color: '#1E4FA8' }}&gt;ETHERCAT_BRINGUP_ONLY=1&lt;/span&gt;，将本阶段限制在通信验证&#13;&#10;                &lt;/Text&gt;&#13;&#10;                &lt;Text style={{ fontSize: '20px', color: '#4A5568', lineHeight: '1.6' }}&gt;&#13;&#10;                    仅执行公共 MPU、HAL 与时钟初始化，再初始化 GPIO、拉低 PC4、拉高 CS&#13;&#10;                &lt;/Text&gt;&#13;&#10;                &lt;Text style={{ fontSize: '20px', color: '#4A5568', lineHeight: '1.6' }}&gt;&#13;&#10;                    启动 SPI1、调用一次 EtherCAT_Init，主循环持续调用 EtherCAT_Service&#13;&#10;                &lt;/Text&gt;&#13;&#10;                &lt;Text style={{ fontSize: '20px', color: '#4A5568', lineHeight: '1.6' }}&gt;&#13;&#10;                    不启动电机初始化、校准、PWM、ADC 采样、编码器初始化与电机服务&#13;&#10;                &lt;/Text&gt;&#13;&#10;                &lt;Box style={{ width: '100%', background: '#E8EFF8', borderRadius: '6px', padding: '12px 16px' }}&gt;&#13;&#10;                    &lt;Text style={{ fontSize: '19px', color: '#1E4FA8' }}&gt;收益：故障可定位到具体层次，且功率级始终禁用&lt;/Text&gt;&#13;&#10;                &lt;/Box&gt;&#13;&#10;            &lt;/Box&gt;&#13;&#10;        &lt;/Box&gt;&#13;&#10;        &lt;Box style={{ width: '100%', height: '96px', background: '#0E3F8C', borderRadius: '6px', padding: '0 24px', flexDirection: 'row', alignItems: 'center', gap: '16px' }}&gt;&#13;&#10;            &lt;Box style={{ width: '8px', height: '58px', background: '#FFC107' }} /&gt;&#13;&#10;            &lt;Text style={{ fontSize: '22px', color: '#FFFFFF', lineHeight: '1.5' }}&gt;&#13;&#10;                先证明链路，再谈控制：把电机与编码器从变量中剔除，是后续所有定位能够收敛的前提&#13;&#10;            &lt;/Text&gt;&#13;&#10;        &lt;/Box&gt;&#13;&#10;    &lt;/Box&gt;&#13;&#10;    &lt;Box style={{ width: '100%', height: '40px', padding: '0 40px', flexDirection: 'row', alignItems: 'center', justifyContent: 'space-between' }}&gt;&#13;&#10;        &lt;Text style={{ fontSize: '14px', color: '#8B97A8' }}&gt;数据来源：调试总结文档第 1.2 节&lt;/Text&gt;&#13;&#10;        &lt;Text style={{ fontSize: '15px', fontWeight: 'bold', color: '#1E4FA8' }}&gt;06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为什么先做通信，而不接入电机控制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439400" y="247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系统组成与软件移植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81000" y="876300"/>
            <a:ext cx="5238750" cy="438150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590550" y="971550"/>
            <a:ext cx="76200" cy="2667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2000" y="952500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不隔离会怎样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90550" y="142875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原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H743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工程已经包含电机、编码器、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ADC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PWM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VOFA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相关功能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90550" y="2257425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若首次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EtherCAT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调试时同时启动这些功能，会增加时序干扰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90550" y="308610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更危险的是可能把主站输出误当成电机指令，造成功率级动作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90550" y="3914775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故障现象也会被多个子系统叠加掩盖，难以定位到具体层次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90550" y="4743450"/>
            <a:ext cx="481965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42950" y="4857750"/>
            <a:ext cx="4514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本质问题：变量不唯一，无法做单因素对照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2847975"/>
            <a:ext cx="438150" cy="438150"/>
          </a:xfrm>
          <a:prstGeom prst="roundRect">
            <a:avLst>
              <a:gd name="adj" fmla="val 6087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895975" y="2933700"/>
            <a:ext cx="30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477000" y="876300"/>
            <a:ext cx="5238750" cy="438150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686550" y="971550"/>
            <a:ext cx="762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858000" y="9525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隔离后只做什么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86550" y="142875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编译宏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ETHERCAT_BRINGUP_ONLY=1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，将本阶段限制在通信验证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686550" y="2257425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仅执行公共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MPU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HAL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与时钟初始化，再初始化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GPIO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、拉低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PC4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、拉高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CS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686550" y="308610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启动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SPI1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、调用一次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EtherCAT_Init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，主循环持续调用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EtherCAT_Service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686550" y="3914775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不启动电机初始化、校准、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PWM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ADC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采样、编码器初始化与电机服务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686550" y="4743450"/>
            <a:ext cx="4819650" cy="447675"/>
          </a:xfrm>
          <a:prstGeom prst="roundRect">
            <a:avLst>
              <a:gd name="adj" fmla="val 1276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38950" y="4857750"/>
            <a:ext cx="4514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收益：故障可定位到具体层次，且功率级始终禁用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81000" y="5372100"/>
            <a:ext cx="11430000" cy="914400"/>
          </a:xfrm>
          <a:prstGeom prst="roundRect">
            <a:avLst>
              <a:gd name="adj" fmla="val 625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609600" y="5553075"/>
            <a:ext cx="76200" cy="5524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5638800"/>
            <a:ext cx="81724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先证明链路，再谈控制：把电机与编码器从变量中剔除，是后续所有定位能够收敛的前提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8" name="" descr="&lt;Slide style={{ width: '1280px', height: '720px', background: '#FFFFFF', padding: '0px' }}&gt;&#13;&#10;    &lt;Box style={{ width: '100%', height: '72px', background: '#0E3F8C', padding: '0 40px', flexDirection: 'row', alignItems: 'center', justifyContent: 'space-between' }}&gt;&#13;&#10;        &lt;Text style={{ fontSize: '34px', fontWeight: 'bold', color: '#FFFFFF' }}&gt;移植结构：自下而上的六层与各自职责&lt;/Text&gt;&#13;&#10;        &lt;Text style={{ fontSize: '16px', color: '#9DBDF0' }}&gt;系统组成与软件移植&lt;/Text&gt;&#13;&#10;    &lt;/Box&gt;&#13;&#10;    &lt;Box style={{ width: '100%', height: '608px', padding: '14px 40px', gap: '10px' }}&gt;&#13;&#10;        &lt;Box style={{ width: '1190px', height: '40px', flexDirection: 'row', alignItems: 'center', justifyContent: 'space-between' }}&gt;&#13;&#10;            &lt;Text style={{ fontSize: '20px', fontWeight: 'bold', color: '#1A2230' }}&gt;参考：仓库 STM32F407 + LAN9252 SPI 示例（SSC 5.11），替换平台相关部分&lt;/Text&gt;&#13;&#10;            &lt;Box style={{ background: '#E8EFF8', padding: '6px 14px', borderRadius: '4px' }}&gt;&#13;&#10;                &lt;Text style={{ fontSize: '17px', color: '#1E4FA8' }}&gt;原参考目录保持只读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0E3F8C', alignItems: 'center', justifyContent: 'center' }}&gt;&#13;&#10;                &lt;Text style={{ fontSize: '20px', fontWeight: 'bold', color: '#FFFFFF' }}&gt;H743 板级适配&lt;/Text&gt;&#13;&#10;            &lt;/Box&gt;&#13;&#10;            &lt;Box style={{ width: '320px', height: '62px', padding: '0 14px', justifyContent: 'center' }}&gt;&#13;&#10;                &lt;Text style={{ fontSize: '18px', color: '#1E4FA8' }}&gt;lan9252_board.c&lt;/Text&gt;&#13;&#10;            &lt;/Box&gt;&#13;&#10;            &lt;Box style={{ width: '660px', height: '62px', padding: '0 14px', justifyContent: 'center' }}&gt;&#13;&#10;                &lt;Text style={{ fontSize: '18px', color: '#4A5568' }}&gt;HAL 收发、DWT 计时、CS 控制回调与 HAL 故障快照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1E4FA8', alignItems: 'center', justifyContent: 'center' }}&gt;&#13;&#10;                &lt;Text style={{ fontSize: '20px', fontWeight: 'bold', color: '#FFFFFF' }}&gt;LAN9252 协议&lt;/Text&gt;&#13;&#10;            &lt;/Box&gt;&#13;&#10;            &lt;Box style={{ width: '320px', height: '62px', padding: '0 14px', justifyContent: 'center' }}&gt;&#13;&#10;                &lt;Text style={{ fontSize: '18px', color: '#1E4FA8' }}&gt;lan9252_spi.c&lt;/Text&gt;&#13;&#10;            &lt;/Box&gt;&#13;&#10;            &lt;Box style={{ width: '660px', height: '62px', padding: '0 14px', justifyContent: 'center' }}&gt;&#13;&#10;                &lt;Text style={{ fontSize: '18px', color: '#4A5568' }}&gt;Direct、CSR、PRAM 访问，探测与访问预算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1E4FA8', alignItems: 'center', justifyContent: 'center' }}&gt;&#13;&#10;                &lt;Text style={{ fontSize: '20px', fontWeight: 'bold', color: '#FFFFFF' }}&gt;SSC 硬件接口&lt;/Text&gt;&#13;&#10;            &lt;/Box&gt;&#13;&#10;            &lt;Box style={{ width: '320px', height: '62px', padding: '0 14px', justifyContent: 'center' }}&gt;&#13;&#10;                &lt;Text style={{ fontSize: '18px', color: '#1E4FA8' }}&gt;lan9252_port.c&lt;/Text&gt;&#13;&#10;            &lt;/Box&gt;&#13;&#10;            &lt;Box style={{ width: '660px', height: '62px', padding: '0 14px', justifyContent: 'center' }}&gt;&#13;&#10;                &lt;Text style={{ fontSize: '18px', color: '#4A5568' }}&gt;HW_EscRead/Write、事件与计时接口、静态邮箱池、首错锁存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1E4FA8', alignItems: 'center', justifyContent: 'center' }}&gt;&#13;&#10;                &lt;Text style={{ fontSize: '20px', fontWeight: 'bold', color: '#FFFFFF' }}&gt;SSC 核心&lt;/Text&gt;&#13;&#10;            &lt;/Box&gt;&#13;&#10;            &lt;Box style={{ width: '320px', height: '62px', padding: '0 14px', justifyContent: 'center' }}&gt;&#13;&#10;                &lt;Text style={{ fontSize: '18px', color: '#1E4FA8' }}&gt;EtherCAT_SSC/Src&lt;/Text&gt;&#13;&#10;            &lt;/Box&gt;&#13;&#10;            &lt;Box style={{ width: '660px', height: '62px', padding: '0 14px', justifyContent: 'center' }}&gt;&#13;&#10;                &lt;Text style={{ fontSize: '18px', color: '#4A5568' }}&gt;AL 状态机、SM、邮箱、CoE 与对象字典访问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1E4FA8', alignItems: 'center', justifyContent: 'center' }}&gt;&#13;&#10;                &lt;Text style={{ fontSize: '20px', fontWeight: 'bold', color: '#FFFFFF' }}&gt;最小应用&lt;/Text&gt;&#13;&#10;            &lt;/Box&gt;&#13;&#10;            &lt;Box style={{ width: '320px', height: '62px', padding: '0 14px', justifyContent: 'center' }}&gt;&#13;&#10;                &lt;Text style={{ fontSize: '18px', color: '#1E4FA8' }}&gt;ethercat_app.c / app_core.c&lt;/Text&gt;&#13;&#10;            &lt;/Box&gt;&#13;&#10;            &lt;Box style={{ width: '660px', height: '62px', padding: '0 14px', justifyContent: 'center' }}&gt;&#13;&#10;                &lt;Text style={{ fontSize: '18px', color: '#4A5568' }}&gt;固定 PDO、回环语义与安全复位&lt;/Text&gt;&#13;&#10;            &lt;/Box&gt;&#13;&#10;        &lt;/Box&gt;&#13;&#10;        &lt;Box style={{ width: '1190px', height: '62px', flexDirection: 'row', border: '1px solid #E5E7EB', borderRadius: '4px' }}&gt;&#13;&#10;            &lt;Box style={{ width: '210px', height: '62px', background: '#3D7BD9', alignItems: 'center', justifyContent: 'center' }}&gt;&#13;&#10;                &lt;Text style={{ fontSize: '20px', fontWeight: 'bold', color: '#FFFFFF' }}&gt;服务集成&lt;/Text&gt;&#13;&#10;            &lt;/Box&gt;&#13;&#10;            &lt;Box style={{ width: '320px', height: '62px', padding: '0 14px', justifyContent: 'center' }}&gt;&#13;&#10;                &lt;Text style={{ fontSize: '18px', color: '#1E4FA8' }}&gt;ethercat_service.c / main.c&lt;/Text&gt;&#13;&#10;            &lt;/Box&gt;&#13;&#10;            &lt;Box style={{ width: '660px', height: '62px', padding: '0 14px', justifyContent: 'center' }}&gt;&#13;&#10;                &lt;Text style={{ fontSize: '18px', color: '#4A5568' }}&gt;一次初始化、持续轮询、运行诊断与故障停服&lt;/Text&gt;&#13;&#10;            &lt;/Box&gt;&#13;&#10;        &lt;/Box&gt;&#13;&#10;        &lt;Box style={{ width: '1190px', height: '72px', background: '#E8EFF8', borderLeft: '6px solid #1E4FA8', borderRadius: '6px', padding: '0 20px', flexDirection: 'row', alignItems: 'center' }}&gt;&#13;&#10;            &lt;Text style={{ fontSize: '20px', color: '#1A2230', lineHeight: '1.5' }}&gt;&#13;&#10;                分层收益：可用假 transport 测协议帧、用受控 HAL 测板级超时、用真实 SSC 源码测邮箱，也能在实板上把错误定位到具体层次&#13;&#10;            &lt;/Text&gt;&#13;&#10;        &lt;/Box&gt;&#13;&#10;    &lt;/Box&gt;&#13;&#10;    &lt;Box style={{ width: '100%', height: '40px', padding: '0 40px', flexDirection: 'row', alignItems: 'center', justifyContent: 'space-between' }}&gt;&#13;&#10;        &lt;Text style={{ fontSize: '14px', color: '#8B97A8' }}&gt;数据来源：调试总结文档第 2 节「从参考工程到 H743 的移植结构」&lt;/Text&gt;&#13;&#10;        &lt;Text style={{ fontSize: '15px', fontWeight: 'bold', color: '#1E4FA8' }}&gt;07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移植结构：自下而上的六层与各自职责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439400" y="247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系统组成与软件移植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参考：仓库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STM32F407 + LAN9252 SPI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示例（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SSC 5.11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），替换平台相关部分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9991725" y="857250"/>
            <a:ext cx="1724025" cy="314325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125075" y="9144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原参考目录保持只读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381000" y="12954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381000" y="1295400"/>
            <a:ext cx="2000250" cy="590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14375" y="147637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H743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板级适配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2514600" y="14859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lan9252_board.c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562600" y="14859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HAL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收发、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DWT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计时、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CS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控制回调与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HAL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故障快照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" y="19812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381000" y="1981200"/>
            <a:ext cx="2000250" cy="590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23900" y="2162175"/>
            <a:ext cx="132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LAN9252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协议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2514600" y="21717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lan9252_spi.c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562600" y="21717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Direct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CSR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PRAM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访问，探测与访问预算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" y="26670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81000" y="2667000"/>
            <a:ext cx="2000250" cy="590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90575" y="2847975"/>
            <a:ext cx="118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SSC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硬件接口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2514600" y="28575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lan9252_port.c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562600" y="28575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HW_EscRead/Write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、事件与计时接口、静态邮箱池、首错锁存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381000" y="33528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381000" y="3352800"/>
            <a:ext cx="2000250" cy="590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81075" y="3533775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SSC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2514600" y="35433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EtherCAT_SSC/Src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562600" y="35433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AL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状态机、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SM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、邮箱、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与对象字典访问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81000" y="40386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381000" y="4038600"/>
            <a:ext cx="2000250" cy="590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00125" y="42195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最小应用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2514600" y="42291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ethercat_app.c / app_core.c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562600" y="42291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固定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PDO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、回环语义与安全复位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381000" y="4724400"/>
            <a:ext cx="11334750" cy="590550"/>
          </a:xfrm>
          <a:prstGeom prst="roundRect">
            <a:avLst>
              <a:gd name="adj" fmla="val 6452"/>
            </a:avLst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381000" y="4724400"/>
            <a:ext cx="2000250" cy="5905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00125" y="49053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服务集成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2514600" y="49149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ethercat_service.c / main.c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562600" y="49149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一次初始化、持续轮询、运行诊断与故障停服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38150" y="5410200"/>
            <a:ext cx="11277600" cy="6858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38150" y="5410200"/>
            <a:ext cx="11277600" cy="685800"/>
          </a:xfrm>
          <a:custGeom>
            <a:pathLst>
              <a:path w="1184" h="72">
                <a:moveTo>
                  <a:pt x="6" y="72"/>
                </a:moveTo>
                <a:cubicBezTo>
                  <a:pt x="3" y="72"/>
                  <a:pt x="0" y="69"/>
                  <a:pt x="0" y="66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7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28650" y="5581650"/>
            <a:ext cx="108680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分层收益：可用假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transport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测协议帧、用受控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HAL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测板级超时、用真实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SSC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源码测邮箱，也能在实板上把错误定位到具体层次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4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节「从参考工程到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H743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的移植结构」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61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实板调试主流程：六个阶段与各自的现象、处理、结果&lt;/Text&gt;&#10;        &lt;Text style={{ fontSize: '16px', color: '#9DBDF0' }}&gt;实板调试复盘&lt;/Text&gt;&#10;    &lt;/Box&gt;&#10;    &lt;Box style={{ width: '100%', height: '608px', padding: '14px 40px', gap: '16px' }}&gt;&#10;        &lt;Box style={{ width: '1198px', height: '246px', flexDirection: 'row', gap: '20px' }}&gt;&#10;            &lt;Box style={{ width: '386px', height: '246px', background: '#F7F9FC', border: '1px solid #E5E7EB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1E4FA8', alignItems: 'center', justifyContent: 'center' }}&gt;&#10;                        &lt;Text style={{ fontSize: '18px', fontWeight: 'bold', color: '#FFFFFF' }}&gt;1&lt;/Text&gt;&#10;                    &lt;/Box&gt;&#10;                    &lt;Box style={{ gap: '2px' }}&gt;&#10;                        &lt;Text style={{ fontSize: '20px', fontWeight: 'bold', color: '#1A2230' }}&gt;移植隔离&lt;/Text&gt;&#10;                        &lt;Text style={{ fontSize: '15px', color: '#8B97A8' }}&gt;10/01–10/03&lt;/Text&gt;&#10;                    &lt;/Box&gt;&#10;                &lt;/Box&gt;&#10;                &lt;Text style={{ fontSize: '18px', color: '#4A5568', lineHeight: '1.5' }}&gt;起点：F407 参考工程含电机、编码器、ADC、PWM&lt;/Text&gt;&#10;                &lt;Text style={{ fontSize: '18px', color: '#4A5568', lineHeight: '1.5' }}&gt;处理：只保留 SSC 核心，隔离功率级&lt;/Text&gt;&#10;                &lt;Text style={{ fontSize: '18px', color: '#1E4FA8', lineHeight: '1.5' }}&gt;结果：主机测试通过，构建 0 error&lt;/Text&gt;&#10;            &lt;/Box&gt;&#10;            &lt;Box style={{ width: '386px', height: '246px', background: '#F7F9FC', border: '1px solid #E5E7EB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1E4FA8', alignItems: 'center', justifyContent: 'center' }}&gt;&#10;                        &lt;Text style={{ fontSize: '18px', fontWeight: 'bold', color: '#FFFFFF' }}&gt;2&lt;/Text&gt;&#10;                    &lt;/Box&gt;&#10;                    &lt;Box style={{ gap: '2px' }}&gt;&#10;                        &lt;Text style={{ fontSize: '20px', fontWeight: 'bold', color: '#1A2230' }}&gt;空白 EEPROM&lt;/Text&gt;&#10;                        &lt;Text style={{ fontSize: '15px', color: '#8B97A8' }}&gt;10/14&lt;/Text&gt;&#10;                    &lt;/Box&gt;&#10;                &lt;/Box&gt;&#10;                &lt;Text style={{ fontSize: '18px', color: '#4A5568', lineHeight: '1.5' }}&gt;现象：设备 FFFFFFFF，EEPROM 可见全 FF&lt;/Text&gt;&#10;                &lt;Text style={{ fontSize: '18px', color: '#4A5568', lineHeight: '1.5' }}&gt;处理：备份原内容，写入匹配 SII 并重新上电&lt;/Text&gt;&#10;                &lt;Text style={{ fontSize: '18px', color: '#1E4FA8', lineHeight: '1.5' }}&gt;结果：设备名恢复，PDI 低字节 0x80&lt;/Text&gt;&#10;            &lt;/Box&gt;&#10;            &lt;Box style={{ width: '386px', height: '246px', background: '#F7F9FC', border: '1px solid #E5E7EB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1E4FA8', alignItems: 'center', justifyContent: 'center' }}&gt;&#10;                        &lt;Text style={{ fontSize: '18px', fontWeight: 'bold', color: '#FFFFFF' }}&gt;3&lt;/Text&gt;&#10;                    &lt;/Box&gt;&#10;                    &lt;Box style={{ gap: '2px' }}&gt;&#10;                        &lt;Text style={{ fontSize: '20px', fontWeight: 'bold', color: '#1A2230' }}&gt;SPI 帧连续性&lt;/Text&gt;&#10;                        &lt;Text style={{ fontSize: '15px', color: '#8B97A8' }}&gt;10/14&lt;/Text&gt;&#10;                    &lt;/Box&gt;&#10;                &lt;/Box&gt;&#10;                &lt;Text style={{ fontSize: '18px', color: '#4A5568', lineHeight: '1.5' }}&gt;现象：分段快读失败，passed_mask=0x06&lt;/Text&gt;&#10;                &lt;Text style={{ fontSize: '18px', color: '#4A5568', lineHeight: '1.5' }}&gt;处理：SPI1 MasterKeepIOState 设为 ENABLE&lt;/Text&gt;&#10;                &lt;Text style={{ fontSize: '18px', color: '#1E4FA8', lineHeight: '1.5' }}&gt;结果：mask=0x07，BYTE_TEST 正确&lt;/Text&gt;&#10;            &lt;/Box&gt;&#10;        &lt;/Box&gt;&#10;        &lt;Box style={{ width: '1198px', height: '246px', flexDirection: 'row', gap: '20px' }}&gt;&#10;            &lt;Box style={{ width: '386px', height: '246px', background: '#F7F9FC', border: '1px solid #E5E7EB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1E4FA8', alignItems: 'center', justifyContent: 'center' }}&gt;&#10;                        &lt;Text style={{ fontSize: '18px', fontWeight: 'bold', color: '#FFFFFF' }}&gt;4&lt;/Text&gt;&#10;                    &lt;/Box&gt;&#10;                    &lt;Box style={{ gap: '2px' }}&gt;&#10;                        &lt;Text style={{ fontSize: '20px', fontWeight: 'bold', color: '#1A2230' }}&gt;HAL Tick 边界&lt;/Text&gt;&#10;                        &lt;Text style={{ fontSize: '15px', color: '#8B97A8' }}&gt;10/14&lt;/Text&gt;&#10;                    &lt;/Box&gt;&#10;                &lt;/Box&gt;&#10;                &lt;Text style={{ fontSize: '18px', color: '#4A5568', lineHeight: '1.5' }}&gt;现象：偶发 INIT→PREOP 超时或返回失败&lt;/Text&gt;&#10;                &lt;Text style={{ fontSize: '18px', color: '#4A5568', lineHeight: '1.5' }}&gt;处理：首故障快照定位毫秒 Tick 边界&lt;/Text&gt;&#10;                &lt;Text style={{ fontSize: '18px', color: '#1E4FA8', lineHeight: '1.5' }}&gt;结果：修正超时换算，快照 valid=0&lt;/Text&gt;&#10;            &lt;/Box&gt;&#10;            &lt;Box style={{ width: '386px', height: '246px', background: '#F7F9FC', border: '1px solid #E5E7EB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1E4FA8', alignItems: 'center', justifyContent: 'center' }}&gt;&#10;                        &lt;Text style={{ fontSize: '18px', fontWeight: 'bold', color: '#FFFFFF' }}&gt;5&lt;/Text&gt;&#10;                    &lt;/Box&gt;&#10;                    &lt;Box style={{ gap: '2px' }}&gt;&#10;                        &lt;Text style={{ fontSize: '20px', fontWeight: 'bold', color: '#1A2230' }}&gt;主站周期源&lt;/Text&gt;&#10;                        &lt;Text style={{ fontSize: '15px', color: '#8B97A8' }}&gt;10/15&lt;/Text&gt;&#10;                    &lt;/Box&gt;&#10;                &lt;/Box&gt;&#10;                &lt;Text style={{ fontSize: '18px', color: '#4A5568', lineHeight: '1.5' }}&gt;现象：Cyclic 帧数与 Frames/sec 均为 0&lt;/Text&gt;&#10;                &lt;Text style={{ fontSize: '18px', color: '#4A5568', lineHeight: '1.5' }}&gt;处理：启动目标设 SAFEOP，执行 FreeRun&lt;/Text&gt;&#10;                &lt;Text style={{ fontSize: '18px', color: '#1E4FA8', lineHeight: '1.5' }}&gt;结果：周期帧开始发送，进入 SAFEOP&lt;/Text&gt;&#10;            &lt;/Box&gt;&#10;            &lt;Box style={{ width: '386px', height: '246px', background: '#E8EFF8', border: '1px solid #3D7BD9', borderRadius: '6px', padding: '14px 16px', gap: '6px' }}&gt;&#10;                &lt;Box style={{ width: '100%', height: '40px', flexDirection: 'row', alignItems: 'center', gap: '10px' }}&gt;&#10;                    &lt;Box style={{ width: '34px', height: '34px', borderRadius: '4px', background: '#0E3F8C', alignItems: 'center', justifyContent: 'center' }}&gt;&#10;                        &lt;Text style={{ fontSize: '18px', fontWeight: 'bold', color: '#FFFFFF' }}&gt;6&lt;/Text&gt;&#10;                    &lt;/Box&gt;&#10;                    &lt;Box style={{ gap: '2px' }}&gt;&#10;                        &lt;Text style={{ fontSize: '20px', fontWeight: 'bold', color: '#1A2230' }}&gt;进入 OP&lt;/Text&gt;&#10;                        &lt;Text style={{ fontSize: '15px', color: '#8B97A8' }}&gt;10/15&lt;/Text&gt;&#10;                    &lt;/Box&gt;&#10;                &lt;/Box&gt;&#10;                &lt;Text style={{ fontSize: '18px', color: '#4A5568', lineHeight: '1.5' }}&gt;现象：SAFEOP 稳定，State=4、WcState=0&lt;/Text&gt;&#10;                &lt;Text style={{ fontSize: '18px', color: '#4A5568', lineHeight: '1.5' }}&gt;处理：保持 ControlWord=0，主站请求 OP&lt;/Text&gt;&#10;                &lt;Text style={{ fontSize: '18px', color: '#1E4FA8', lineHeight: '1.5' }}&gt;结果：State=8，计数器达 2127&lt;/Text&gt;&#10;            &lt;/Box&gt;&#10;        &lt;/Box&gt;&#10;        &lt;Box style={{ width: '1198px', height: '56px', background: '#0E3F8C', borderRadius: '6px', padding: '0 20px', flexDirection: 'row', alignItems: 'center', gap: '14px' }}&gt;&#10;            &lt;Box style={{ width: '8px', height: '34px', background: '#FFC107' }} /&gt;&#10;            &lt;Text style={{ fontSize: '21px', color: '#FFFFFF' }}&gt;方法要点：每一步只改变一个因素，现象、处理、结果逐项留证&lt;/Text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时间取自调试记录截图，用于区分轮次，不作为校准过的持续运行计时&lt;/Text&gt;&#10;        &lt;Text style={{ fontSize: '15px', fontWeight: 'bold', color: '#1E4FA8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7772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实板调试主流程：六个阶段与各自的现象、处理、结果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896600" y="247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实板调试复盘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81000" y="81915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533400" y="9810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38175" y="1038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52500" y="9334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移植隔离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952500" y="11811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10/01–10/03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33400" y="1390650"/>
            <a:ext cx="3371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起点：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F407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参考工程含电机、编码器、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ADC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PWM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33400" y="2066925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处理：只保留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SSC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核心，隔离功率级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33400" y="24384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结果：主机测试通过，构建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0 error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248150" y="81915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4400550" y="9810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505325" y="1038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819650" y="933450"/>
            <a:ext cx="1266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空白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EEPROM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819650" y="118110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10/14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400550" y="139065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现象：设备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FFFFFFFF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EEPROM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可见全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FF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400550" y="1762125"/>
            <a:ext cx="3371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处理：备份原内容，写入匹配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SII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并重新上电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400550" y="24384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结果：设备名恢复，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PDI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低字节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0x80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8115300" y="81915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8267700" y="9810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372475" y="1038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686800" y="93345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SPI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帧连续性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686800" y="11811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10/14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267700" y="139065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现象：分段快读失败，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passed_mask=0x06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267700" y="1762125"/>
            <a:ext cx="3371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SPI1 MasterKeepIOState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设为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ENABLE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267700" y="24384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mask=0x07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BYTE_TEST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正确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81000" y="331470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533400" y="34766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38175" y="35337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52500" y="3429000"/>
            <a:ext cx="1285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HAL Tick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52500" y="36766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10/14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33400" y="38862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现象：偶发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INIT→PREOP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超时或返回失败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33400" y="4257675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处理：首故障快照定位毫秒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Tick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3400" y="462915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结果：修正超时换算，快照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valid=0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248150" y="331470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4400550" y="34766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505325" y="35337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819650" y="34290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主站周期源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819650" y="3676650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10/15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400550" y="38862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现象：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Cyclic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帧数与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Frames/sec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均为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4400550" y="4257675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处理：启动目标设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SAFEOP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，执行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FreeRun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400550" y="462915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结果：周期帧开始发送，进入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SAFEOP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8115300" y="3314700"/>
            <a:ext cx="3676650" cy="2343150"/>
          </a:xfrm>
          <a:prstGeom prst="roundRect">
            <a:avLst>
              <a:gd name="adj" fmla="val 2439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8267700" y="34766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372475" y="35337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686800" y="3429000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进入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OP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686800" y="36766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10/15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267700" y="3886200"/>
            <a:ext cx="3371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现象：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SAFEOP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State=4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WcState=0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267700" y="4562475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处理：保持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ControlWord=0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，主站请求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OP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267700" y="493395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State=8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，计数器达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2127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81000" y="5810250"/>
            <a:ext cx="11410950" cy="533400"/>
          </a:xfrm>
          <a:prstGeom prst="roundRect">
            <a:avLst>
              <a:gd name="adj" fmla="val 1071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571500" y="5915025"/>
            <a:ext cx="7620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81050" y="5953125"/>
            <a:ext cx="560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方法要点：每一步只改变一个因素，现象、处理、结果逐项留证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时间取自调试记录截图，用于区分轮次，不作为校准过的持续运行计时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19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关键定位一：空白 EEPROM 与 SPI 帧连续性&lt;/Text&gt;&#10;        &lt;Text style={{ fontSize: '16px', color: '#9DBDF0' }}&gt;实板调试复盘&lt;/Text&gt;&#10;    &lt;/Box&gt;&#10;    &lt;Box style={{ width: '100%', height: '608px', padding: '20px 40px', gap: '12px' }}&gt;&#10;        &lt;Box style={{ width: '1200px', height: '520px', flexDirection: 'row', gap: '20px' }}&gt;&#10;            &lt;Box style={{ width: '590px', height: '520px', background: '#F7F9FC', border: '1px solid #D6DCE5', borderRadius: '6px', padding: '0 22px 20px 22px', gap: '10px' }}&gt;&#10;                &lt;Box style={{ width: '100%', height: '46px', flexDirection: 'row', alignItems: 'center', gap: '10px' }}&gt;&#10;                    &lt;Box style={{ width: '8px', height: '26px', background: '#1E4FA8' }} /&gt;&#10;                    &lt;Text style={{ fontSize: '26px', fontWeight: 'bold', color: '#1A2230' }}&gt;配置层：空白 EEPROM&lt;/Text&gt;&#10;                &lt;/Box&gt;&#10;                &lt;Text style={{ fontSize: '20px', color: '#4A5568', lineHeight: '1.55' }}&gt;现象：扫描到产品与版本为 FFFFFFFF，Hex Editor 可见连续 FF，MISO 无有效波形&lt;/Text&gt;&#10;                &lt;Text style={{ fontSize: '20px', color: '#4A5568', lineHeight: '1.55' }}&gt;独立证据：ESC Access 读 0x0140 得 0x0C00（PDI 类型为 0），0x0502 得 0x1880&lt;/Text&gt;&#10;                &lt;Text style={{ fontSize: '20px', color: '#4A5568', lineHeight: '1.55' }}&gt;处理：先备份原内容到文件，再安装实验 ESI，选 H743-LAN9252-LAB 写入 SII&lt;/Text&gt;&#10;                &lt;Text style={{ fontSize: '20px', color: '#1E4FA8', lineHeight: '1.55' }}&gt;结果：设备名恢复，0x0502=0080，0x0140=0E80，低字节 0x80 即 PDI 类型&lt;/Text&gt;&#10;                &lt;Box style={{ width: '100%', background: '#FFFFFF', border: '1px solid #E5E7EB', borderRadius: '6px', padding: '12px 16px' }}&gt;&#10;                    &lt;Text style={{ fontSize: '18px', color: '#8B97A8', lineHeight: '1.5' }}&gt;边界：备份约 1 KB，而 ESI 目标有效大小为 2048 字节，正式归档应补齐整段回读与校验&lt;/Text&gt;&#10;                &lt;/Box&gt;&#10;            &lt;/Box&gt;&#10;            &lt;Box style={{ width: '590px', height: '520px', background: '#F7F9FC', border: '1px solid #D6DCE5', borderRadius: '6px', padding: '0 22px 20px 22px', gap: '10px' }}&gt;&#10;                &lt;Box style={{ width: '100%', height: '46px', flexDirection: 'row', alignItems: 'center', gap: '10px' }}&gt;&#10;                    &lt;Box style={{ width: '8px', height: '26px', background: '#3D7BD9' }} /&gt;&#10;                    &lt;Text style={{ fontSize: '26px', fontWeight: 'bold', color: '#1A2230' }}&gt;物理层：SPI 帧连续性&lt;/Text&gt;&#10;                &lt;/Box&gt;&#10;                &lt;Text style={{ fontSize: '20px', color: '#4A5568', lineHeight: '1.55' }}&gt;判据：BYTE_TEST 位于主机寄存器 0x0064，正确值为 0x87654321&lt;/Text&gt;&#10;                &lt;Text style={{ fontSize: '20px', color: '#4A5568', lineHeight: '1.55' }}&gt;现象：读到 0x0ECB8642，三种读法 passed_mask=0x06，仅分段快读失败&lt;/Text&gt;&#10;                &lt;Text style={{ fontSize: '20px', color: '#4A5568', lineHeight: '1.55' }}&gt;分析：整帧通过而分段失败，把范围缩到跨 HAL 调用的帧连续性&lt;/Text&gt;&#10;                &lt;Text style={{ fontSize: '20px', color: '#4A5568', lineHeight: '1.55' }}&gt;处理：MasterKeepIOState 改为 ENABLE，Mode 0、4 MHz、8 位与软件 CS 不变&lt;/Text&gt;&#10;                &lt;Box style={{ width: '100%', background: '#E8EFF8', borderRadius: '6px', padding: '12px 16px' }}&gt;&#10;                    &lt;Text style={{ fontSize: '18px', color: '#1E4FA8', lineHeight: '1.5' }}&gt;结果：mask=0x07，BYTE_TEST=0x87654321，ID_REV=0x92520001，初始化 READY&lt;/Text&gt;&#10;                &lt;/Box&gt;&#10;            &lt;/Box&gt;&#10;        &lt;/Box&gt;&#10;        &lt;Box style={{ width: '1200px', height: '48px', background: '#E8EFF8', borderLeft: '6px solid #1E4FA8', borderRadius: '6px', padding: '0 20px', flexDirection: 'row', alignItems: 'center' }}&gt;&#10;            &lt;Text style={{ fontSize: '20px', color: '#1A2230' }}&gt;对照实验只改变一个因素：三种读法读同一寄存器，才揭示出分段与整帧的差异&lt;/Text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 5、6 节&lt;/Text&gt;&#10;        &lt;Text style={{ fontSize: '15px', fontWeight: 'bold', color: '#1E4FA8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6524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关键定位一：空白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EEPROM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SPI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帧连续性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896600" y="247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实板调试复盘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381000" y="876300"/>
            <a:ext cx="5619750" cy="4953000"/>
          </a:xfrm>
          <a:prstGeom prst="roundRect">
            <a:avLst>
              <a:gd name="adj" fmla="val 115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590550" y="971550"/>
            <a:ext cx="7620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62000" y="942975"/>
            <a:ext cx="2638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配置层：空白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EEPROM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90550" y="140970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现象：扫描到产品与版本为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FFFFFFFF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Hex Editor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可见连续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FF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MISO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无有效波形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90550" y="2219325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独立证据：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ESC Access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读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0x0140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0x0C00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PDI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类型为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），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0x0502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0x1880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90550" y="302895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处理：先备份原内容到文件，再安装实验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ESI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，选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H743-LAN9252-LAB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写入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SII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90550" y="3838575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结果：设备名恢复，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>0x0502=0080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>0x0140=0E80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，低字节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> 0x80 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即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> PDI 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90550" y="4648200"/>
            <a:ext cx="5200650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42950" y="4762500"/>
            <a:ext cx="4895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边界：备份约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KB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，而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ESI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目标有效大小为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2048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字节，正式归档应补齐整段回读与校验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191250" y="876300"/>
            <a:ext cx="5619750" cy="4953000"/>
          </a:xfrm>
          <a:prstGeom prst="roundRect">
            <a:avLst>
              <a:gd name="adj" fmla="val 115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400800" y="971550"/>
            <a:ext cx="76200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572250" y="942975"/>
            <a:ext cx="2457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物理层：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SPI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帧连续性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400800" y="140970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判据：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BYTE_TEST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位于主机寄存器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0x0064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，正确值为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0x87654321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400800" y="2219325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现象：读到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0x0ECB8642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，三种读法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passed_mask=0x06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，仅分段快读失败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400800" y="302895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分析：整帧通过而分段失败，把范围缩到跨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HAL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调用的帧连续性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400800" y="3838575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处理：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MasterKeepIOState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改为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ENABLE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Mode 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4 MHz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8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位与软件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CS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不变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400800" y="4648200"/>
            <a:ext cx="5200650" cy="847725"/>
          </a:xfrm>
          <a:prstGeom prst="roundRect">
            <a:avLst>
              <a:gd name="adj" fmla="val 674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553200" y="4762500"/>
            <a:ext cx="4895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结果：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mask=0x07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BYTE_TEST=0x87654321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ID_REV=0x92520001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，初始化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READY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438150" y="5943600"/>
            <a:ext cx="1137285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438150" y="5943600"/>
            <a:ext cx="11372850" cy="457200"/>
          </a:xfrm>
          <a:custGeom>
            <a:pathLst>
              <a:path w="1194" h="48">
                <a:moveTo>
                  <a:pt x="6" y="48"/>
                </a:moveTo>
                <a:cubicBezTo>
                  <a:pt x="3" y="48"/>
                  <a:pt x="0" y="45"/>
                  <a:pt x="0" y="42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4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28650" y="6057900"/>
            <a:ext cx="666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对照实验只改变一个因素：三种读法读同一寄存器，才揭示出分段与整帧的差异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3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关键定位二：首故障快照与 HAL 毫秒 Tick 边界&lt;/Text&gt;&#10;        &lt;Text style={{ fontSize: '16px', color: '#9DBDF0' }}&gt;实板调试复盘&lt;/Text&gt;&#10;    &lt;/Box&gt;&#10;    &lt;Box style={{ width: '100%', height: '608px', padding: '18px 40px', gap: '12px' }}&gt;&#10;        &lt;Box style={{ width: '1200px', height: '474px', flexDirection: 'row', gap: '20px' }}&gt;&#10;            &lt;Box style={{ width: '640px', height: '474px', background: '#FFFFFF', border: '1px solid #D6DCE5', borderRadius: '6px', padding: '16px 18px', gap: '10px' }}&gt;&#10;                &lt;Text style={{ fontSize: '25px', fontWeight: 'bold', color: '#1E4FA8' }}&gt;首次故障快照实测值&lt;/Text&gt;&#10;                &lt;Table&#10;                    style={{ width: '100%', height: '392px' }}&#10;                    defaultTextStyle={{ fontSize: '18px', textAlign: 'left', color: '#1A2230' }}&#10;                    defaultCellStyle={{&#10;                        padding: '7px 12px',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字段', textStyle: { bold: true, color: '#FFFFFF', fontSize: '19px' }, cellStyle: { background: { color: '#0E3F8C' } } },&#10;                            { text: '实测值', textStyle: { bold: true, color: '#FFFFFF', fontSize: '19px' }, cellStyle: { background: { color: '#0E3F8C' } } },&#10;                            { text: '定位意义', textStyle: { bold: true, color: '#FFFFFF', fontSize: '19px' }, cellStyle: { background: { color: '#0E3F8C' } } },&#10;                        ],&#10;                        [&#10;                            { text: 'first_fault.valid', cellStyle: { background: { color: '#FFFFFF' } } },&#10;                            { text: '1', cellStyle: { background: { color: '#FFFFFF' } } },&#10;                            { text: '首次现场完整有效', cellStyle: { background: { color: '#FFFFFF' } } },&#10;                        ],&#10;                        [&#10;                            { text: 'address / esc', cellStyle: { background: { color: '#F7F9FC' } } },&#10;                            { text: '0x0304 / 0x0004', cellStyle: { background: { color: '#F7F9FC' } } },&#10;                            { text: '读 CSR_CMD，属 SSC 初始化请求', cellStyle: { background: { color: '#F7F9FC' } } },&#10;                        ],&#10;                        [&#10;                            { text: 'command / phase', cellStyle: { background: { color: '#FFFFFF' } } },&#10;                            { text: '0x0B / 2', cellStyle: { background: { color: '#FFFFFF' } } },&#10;                            { text: '快读数据阶段失败', cellStyle: { background: { color: '#FFFFFF' } } },&#10;                        ],&#10;                        [&#10;                            { text: 'reason / status', cellStyle: { background: { color: '#F7F9FC' } } },&#10;                            { text: '2 / 3', cellStyle: { background: { color: '#F7F9FC' } } },&#10;                            { text: 'transport 失败，DIRECT_TIMEOUT', cellStyle: { background: { color: '#F7F9FC' } } },&#10;                        ],&#10;                        [&#10;                            { text: 'elapsed / budget', cellStyle: { background: { color: '#FFFFFF' } } },&#10;                            { text: '39 µs / 1000 µs', cellStyle: { background: { color: '#FFFFFF' } } },&#10;                            { text: '物理访问耗时远小于预算', cellStyle: { background: { color: '#FFFFFF' } } },&#10;                        ],&#10;                        [&#10;                            { text: 'hal_status / err', cellStyle: { background: { color: '#F7F9FC' } } },&#10;                            { text: '3 / 0x100', cellStyle: { background: { color: '#F7F9FC' } } },&#10;                            { text: 'HAL_TIMEOUT', cellStyle: { background: { color: '#F7F9FC' } } },&#10;                        ],&#10;                        [&#10;                            { text: 'HAL elapsed', cellStyle: { background: { color: '#FFFFFF' } } },&#10;                            { text: '11 µs', cellStyle: { background: { color: '#FFFFFF' } } },&#10;                            { text: 'HAL 回调很快返回超时', cellStyle: { background: { color: '#FFFFFF' } } },&#10;                        ],&#10;                        [&#10;                            { text: 'timeout_us / ms', cellStyle: { background: { color: '#F7F9FC' } } },&#10;                            { text: '977 µs / 1 ms', cellStyle: { background: { color: '#F7F9FC' } } },&#10;                            { text: '剩余 977 µs 被换算为 1 ms', cellStyle: { background: { color: '#F7F9FC' } } },&#10;                        ],&#10;                    ]}&#10;                /&gt;&#10;            &lt;/Box&gt;&#10;            &lt;Box style={{ width: '540px', height: '474px', gap: '12px' }}&gt;&#10;                &lt;Box style={{ width: '100%', height: '146px', background: '#F7F9FC', borderLeft: '6px solid #1E4FA8', borderRadius: '6px', padding: '14px 18px', gap: '6px' }}&gt;&#10;                    &lt;Text style={{ fontSize: '23px', fontWeight: 'bold', color: '#1A2230' }}&gt;现象&lt;/Text&gt;&#10;                    &lt;Text style={{ fontSize: '19px', color: '#4A5568', lineHeight: '1.5' }}&gt;同一程序有时能进 PREOP 却不能返回 INIT，有时停在 INIT 且 INIT→PREOP 请求 3000 ms 超时&lt;/Text&gt;&#10;                &lt;/Box&gt;&#10;                &lt;Box style={{ width: '100%', height: '146px', background: '#F7F9FC', borderLeft: '6px solid #3D7BD9', borderRadius: '6px', padding: '14px 18px', gap: '6px' }}&gt;&#10;                    &lt;Text style={{ fontSize: '23px', fontWeight: 'bold', color: '#1A2230' }}&gt;根因&lt;/Text&gt;&#10;                    &lt;Text style={{ fontSize: '19px', color: '#4A5568', lineHeight: '1.5' }}&gt;HAL 用毫秒 Tick 差值判超时：调用若始于某毫秒末尾，几微秒后 Tick 加 1，差值已达 1 即报超时&lt;/Text&gt;&#10;                &lt;/Box&gt;&#10;                &lt;Box style={{ width: '100%', height: '146px', background: '#E8EFF8', borderLeft: '6px solid #0E3F8C', borderRadius: '6px', padding: '14px 18px', gap: '6px' }}&gt;&#10;                    &lt;Text style={{ fontSize: '23px', fontWeight: 'bold', color: '#1A2230' }}&gt;修正&lt;/Text&gt;&#10;                    &lt;Text style={{ fontSize: '19px', color: '#4A5568', lineHeight: '1.5' }}&gt;剩余微秒向上取整到毫秒再加 1 个 Tick；不修改 HAL 库、不扩大判据、不新增自动重试&lt;/Text&gt;&#10;                &lt;/Box&gt;&#10;            &lt;/Box&gt;&#10;        &lt;/Box&gt;&#10;        &lt;Box style={{ width: '1200px', height: '84px', background: '#0E3F8C', borderRadius: '6px', padding: '0 22px', flexDirection: 'row', alignItems: 'center', gap: '18px' }}&gt;&#10;            &lt;Box style={{ width: '8px', height: '56px', background: '#FFC107' }} /&gt;&#10;            &lt;Box style={{ gap: '4px' }}&gt;&#10;                &lt;Text style={{ fontSize: '19px', color: '#B9CCEE' }}&gt;timeout_ms = remaining_us / 1000 + 1，余数非零再 +1&lt;/Text&gt;&#10;                &lt;Text style={{ fontSize: '19px', color: '#FFFFFF' }}&gt;修正后实板两份故障 valid=0，驱动错误与超时计数为 0，恢复 PREOP 与在线 CoE&lt;/Text&gt;&#10;            &lt;/Box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 8 节与 docs/ethercat/2026-10-14-spi-first-fault.md&lt;/Text&gt;&#10;        &lt;Text style={{ fontSize: '15px', fontWeight: 'bold', color: '#1E4FA8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6915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关键定位二：首故障快照与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HAL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毫秒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Tick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896600" y="247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实板调试复盘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81000" y="857250"/>
            <a:ext cx="6096000" cy="451485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52450" y="1009650"/>
            <a:ext cx="5753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首次故障快照实测值</a:t>
            </a:r>
            <a:endParaRPr/>
          </a:p>
        </p:txBody>
      </p:sp>
      <p:graphicFrame>
        <p:nvGraphicFramePr>
          <p:cNvPr id="30" name=""/>
          <p:cNvGraphicFramePr/>
          <p:nvPr/>
        </p:nvGraphicFramePr>
        <p:xfrm rot="0" flipH="0" flipV="0">
          <a:off x="552450" y="1390650"/>
          <a:ext cx="5753100" cy="3733800"/>
        </p:xfrm>
        <a:graphic>
          <a:graphicData uri="http://schemas.openxmlformats.org/drawingml/2006/table">
            <a:tbl>
              <a:tblGrid>
                <a:gridCol w="1540935">
                  <a:extLst>
                    <a:ext uri="{9D8B030D-6E8A-4147-A177-3AD203B41FA5}">
                      <a16:colId val="1"/>
                    </a:ext>
                  </a:extLst>
                </a:gridCol>
                <a:gridCol w="1416499">
                  <a:extLst>
                    <a:ext uri="{9D8B030D-6E8A-4147-A177-3AD203B41FA5}">
                      <a16:colId val="2"/>
                    </a:ext>
                  </a:extLst>
                </a:gridCol>
                <a:gridCol w="279566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字段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实测值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定位意义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first_fault.valid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首次现场完整有效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address / esc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0x0304 / 0x0004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读 CSR_CMD，属 SSC 初始化请求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command / phase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0x0B / 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快读数据阶段失败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reason / status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 / 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transport 失败，DIRECT_TIMEOUT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elapsed / budget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39 µs / 1000 µs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物理访问耗时远小于预算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hal_status / err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 / 0x100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HAL_TIMEOUT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HAL elapsed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 µs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HAL 回调很快返回超时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148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timeout_us / 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977 µs / 1 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剩余 977 µs 被换算为 1 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31" name=""/>
          <p:cNvSpPr/>
          <p:nvPr/>
        </p:nvSpPr>
        <p:spPr>
          <a:xfrm rot="0" flipH="0" flipV="0">
            <a:off x="6724650" y="857250"/>
            <a:ext cx="5143500" cy="1390650"/>
          </a:xfrm>
          <a:prstGeom prst="roundRect">
            <a:avLst>
              <a:gd name="adj" fmla="val 41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724650" y="857250"/>
            <a:ext cx="5143500" cy="1390650"/>
          </a:xfrm>
          <a:custGeom>
            <a:pathLst>
              <a:path w="540" h="146">
                <a:moveTo>
                  <a:pt x="6" y="146"/>
                </a:moveTo>
                <a:cubicBezTo>
                  <a:pt x="3" y="146"/>
                  <a:pt x="0" y="143"/>
                  <a:pt x="0" y="140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96100" y="990600"/>
            <a:ext cx="4743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96100" y="1314450"/>
            <a:ext cx="47434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同一程序有时能进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PREOP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却不能返回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INIT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，有时停在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INIT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INIT→PREOP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请求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3000 ms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724650" y="2362200"/>
            <a:ext cx="5143500" cy="1390650"/>
          </a:xfrm>
          <a:prstGeom prst="roundRect">
            <a:avLst>
              <a:gd name="adj" fmla="val 41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724650" y="2362200"/>
            <a:ext cx="5143500" cy="1390650"/>
          </a:xfrm>
          <a:custGeom>
            <a:pathLst>
              <a:path w="540" h="146">
                <a:moveTo>
                  <a:pt x="6" y="146"/>
                </a:moveTo>
                <a:cubicBezTo>
                  <a:pt x="3" y="146"/>
                  <a:pt x="0" y="143"/>
                  <a:pt x="0" y="140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4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96100" y="2495550"/>
            <a:ext cx="4743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根因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96100" y="2819400"/>
            <a:ext cx="47434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HAL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用毫秒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Tick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差值判超时：调用若始于某毫秒末尾，几微秒后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Tick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加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，差值已达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即报超时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724650" y="3867150"/>
            <a:ext cx="5143500" cy="1390650"/>
          </a:xfrm>
          <a:prstGeom prst="roundRect">
            <a:avLst>
              <a:gd name="adj" fmla="val 411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724650" y="3867150"/>
            <a:ext cx="5143500" cy="1390650"/>
          </a:xfrm>
          <a:custGeom>
            <a:pathLst>
              <a:path w="540" h="146">
                <a:moveTo>
                  <a:pt x="6" y="146"/>
                </a:moveTo>
                <a:cubicBezTo>
                  <a:pt x="3" y="146"/>
                  <a:pt x="0" y="143"/>
                  <a:pt x="0" y="140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4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96100" y="4000500"/>
            <a:ext cx="4743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修正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96100" y="4324350"/>
            <a:ext cx="47434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剩余微秒向上取整到毫秒再加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Tick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；不修改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HAL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库、不扩大判据、不新增自动重试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5486400"/>
            <a:ext cx="11430000" cy="800100"/>
          </a:xfrm>
          <a:prstGeom prst="roundRect">
            <a:avLst>
              <a:gd name="adj" fmla="val 714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590550" y="5619750"/>
            <a:ext cx="76200" cy="5334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5648325"/>
            <a:ext cx="6648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B9CCEE"/>
                </a:solidFill>
                <a:latin typeface="Microsoft YaHei"/>
                <a:ea typeface="Microsoft YaHei"/>
              </a:rPr>
              <a:t>timeout_ms = remaining_us / 1000 + 1</a:t>
            </a:r>
            <a:r>
              <a:rPr lang="zh-CN" sz="1425">
                <a:solidFill>
                  <a:srgbClr val="B9CCEE"/>
                </a:solidFill>
                <a:latin typeface="Microsoft YaHei"/>
                <a:ea typeface="Microsoft YaHei"/>
              </a:rPr>
              <a:t>，余数非零再</a:t>
            </a:r>
            <a:r>
              <a:rPr lang="en-US" sz="1425">
                <a:solidFill>
                  <a:srgbClr val="B9CCEE"/>
                </a:solidFill>
                <a:latin typeface="Microsoft YaHei"/>
                <a:ea typeface="Microsoft YaHei"/>
              </a:rPr>
              <a:t> +1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5905500"/>
            <a:ext cx="6648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修正后实板两份故障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valid=0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，驱动错误与超时计数为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0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，恢复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PREOP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与在线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CoE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8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docs/ethercat/2026-10-14-spi-first-fault.md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关键定位三：主站周期通信未启动&lt;/Text&gt;&#10;        &lt;Text style={{ fontSize: '16px', color: '#9DBDF0' }}&gt;实板调试复盘&lt;/Text&gt;&#10;    &lt;/Box&gt;&#10;    &lt;Box style={{ width: '100%', height: '608px', padding: '20px 40px', gap: '12px' }}&gt;&#10;        &lt;Box style={{ width: '1200px', height: '36px', flexDirection: 'row', alignItems: 'center', justifyContent: 'space-between' }}&gt;&#10;            &lt;Text style={{ fontSize: '22px', fontWeight: 'bold', color: '#1A2230' }}&gt;这一步的问题不在固件，而在主站：TwinCAT 也是系统的一部分&lt;/Text&gt;&#10;            &lt;Box style={{ background: '#E8EFF8', padding: '5px 13px', borderRadius: '4px' }}&gt;&#10;                &lt;Text style={{ fontSize: '17px', color: '#1E4FA8' }}&gt;2026-10-15 13:48–14:01&lt;/Text&gt;&#10;            &lt;/Box&gt;&#10;        &lt;/Box&gt;&#10;        &lt;Box style={{ width: '1200px', height: '370px', flexDirection: 'row', gap: '20px' }}&gt;&#10;            &lt;Box style={{ width: '380px', height: '370px', background: '#F7F9FC', border: '1px solid #D6DCE5', borderRadius: '6px', padding: '16px 18px', gap: '10px' }}&gt;&#10;                &lt;Box style={{ width: '100%', height: '44px', flexDirection: 'row', alignItems: 'center', gap: '10px' }}&gt;&#10;                    &lt;Box style={{ width: '36px', height: '36px', borderRadius: '4px', background: '#1E4FA8', alignItems: 'center', justifyContent: 'center' }}&gt;&#10;                        &lt;Text style={{ fontSize: '19px', fontWeight: 'bold', color: '#FFFFFF' }}&gt;1&lt;/Text&gt;&#10;                    &lt;/Box&gt;&#10;                    &lt;Text style={{ fontSize: '24px', fontWeight: 'bold', color: '#1A2230' }}&gt;现象&lt;/Text&gt;&#10;                &lt;/Box&gt;&#10;                &lt;Text style={{ fontSize: '20px', color: '#4A5568', lineHeight: '1.55' }}&gt;在 Box 1 点击 Safe-Op，提示 Master state PREOP is insufficient&lt;/Text&gt;&#10;                &lt;Text style={{ fontSize: '20px', color: '#4A5568', lineHeight: '1.55' }}&gt;这与前面的 SPI 故障性质不同：从站请求受到主站状态限制&lt;/Text&gt;&#10;                &lt;Box style={{ width: '100%', background: '#FFFFFF', border: '1px solid #E5E7EB', borderRadius: '6px', padding: '10px 14px' }}&gt;&#10;                    &lt;Text style={{ fontSize: '18px', color: '#8B97A8' }}&gt;应先查看父节点 Device 2 的状态，而不是只在 Box 1 重复请求&lt;/Text&gt;&#10;                &lt;/Box&gt;&#10;            &lt;/Box&gt;&#10;            &lt;Box style={{ width: '380px', height: '370px', background: '#F7F9FC', border: '1px solid #D6DCE5', borderRadius: '6px', padding: '16px 18px', gap: '10px' }}&gt;&#10;                &lt;Box style={{ width: '100%', height: '44px', flexDirection: 'row', alignItems: 'center', gap: '10px' }}&gt;&#10;                    &lt;Box style={{ width: '36px', height: '36px', borderRadius: '4px', background: '#1E4FA8', alignItems: 'center', justifyContent: 'center' }}&gt;&#10;                        &lt;Text style={{ fontSize: '19px', fontWeight: 'bold', color: '#FFFFFF' }}&gt;2&lt;/Text&gt;&#10;                    &lt;/Box&gt;&#10;                    &lt;Text style={{ fontSize: '24px', fontWeight: 'bold', color: '#1A2230' }}&gt;关键证据&lt;/Text&gt;&#10;                &lt;/Box&gt;&#10;                &lt;Text style={{ fontSize: '20px', color: '#4A5568', lineHeight: '1.55' }}&gt;Device 2 的 Cyclic 列：发送帧数与 Frames/sec 均为 0&lt;/Text&gt;&#10;                &lt;Text style={{ fontSize: '20px', color: '#4A5568', lineHeight: '1.55' }}&gt;Queued 列仍有收发，但那是非周期通信，只够读邮箱与寄存器&lt;/Text&gt;&#10;                &lt;Box style={{ width: '100%', background: '#FFFFFF', border: '1px solid #E5E7EB', borderRadius: '6px', padding: '10px 14px' }}&gt;&#10;                    &lt;Text style={{ fontSize: '18px', color: '#8B97A8' }}&gt;能读 CoE 不等于已经具备周期 PDO 通信&lt;/Text&gt;&#10;                &lt;/Box&gt;&#10;            &lt;/Box&gt;&#10;            &lt;Box style={{ width: '380px', height: '370px', background: '#E8EFF8', border: '1px solid #3D7BD9', borderRadius: '6px', padding: '16px 18px', gap: '10px' }}&gt;&#10;                &lt;Box style={{ width: '100%', height: '44px', flexDirection: 'row', alignItems: 'center', gap: '10px' }}&gt;&#10;                    &lt;Box style={{ width: '36px', height: '36px', borderRadius: '4px', background: '#0E3F8C', alignItems: 'center', justifyContent: 'center' }}&gt;&#10;                        &lt;Text style={{ fontSize: '19px', fontWeight: 'bold', color: '#FFFFFF' }}&gt;3&lt;/Text&gt;&#10;                    &lt;/Box&gt;&#10;                    &lt;Text style={{ fontSize: '24px', fontWeight: 'bold', color: '#1A2230' }}&gt;处理&lt;/Text&gt;&#10;                &lt;/Box&gt;&#10;                &lt;Text style={{ fontSize: '20px', color: '#4A5568', lineHeight: '1.55' }}&gt;Device 2 → Advanced Settings → State Machine → Master Settings&lt;/Text&gt;&#10;                &lt;Text style={{ fontSize: '20px', color: '#4A5568', lineHeight: '1.55' }}&gt;Startup State 暂设 SAFEOP，保留 Config Mode，执行 Toggle Free Run State&lt;/Text&gt;&#10;                &lt;Box style={{ width: '100%', background: '#FFFFFF', borderRadius: '6px', padding: '10px 14px' }}&gt;&#10;                    &lt;Text style={{ fontSize: '18px', color: '#1E4FA8' }}&gt;该命令是开关，不应反复点击；它可在无 PLC 任务时驱动 I/O&lt;/Text&gt;&#10;                &lt;/Box&gt;&#10;            &lt;/Box&gt;&#10;        &lt;/Box&gt;&#10;        &lt;Box style={{ width: '1200px', height: '100px', background: '#0E3F8C', borderRadius: '6px', padding: '0 22px', flexDirection: 'row', alignItems: 'center', gap: '18px' }}&gt;&#10;            &lt;Box style={{ width: '8px', height: '64px', background: '#FFC107' }} /&gt;&#10;            &lt;Box style={{ gap: '4px' }}&gt;&#10;                &lt;Text style={{ fontSize: '21px', color: '#FFFFFF' }}&gt;随后 SAFEOP（State=4）→ OP（State=8），WcState=0，CycleCounter=2127&lt;/Text&gt;&#10;                &lt;Text style={{ fontSize: '18px', color: '#B9CCEE' }}&gt;最后这段状态推进由主站操作与从站固件共同完成，不能用「SPI 修好了」概括&lt;/Text&gt;&#10;            &lt;/Box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 9 节；参考 Beckhoff TwinCAT 3 Infosys 状态机与 FreeRun 说明&lt;/Text&gt;&#10;        &lt;Text style={{ fontSize: '15px', fontWeight: 'bold', color: '#1E4FA8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关键定位三：主站周期通信未启动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896600" y="247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实板调试复盘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601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这一步的问题不在固件，而在主站：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TwinCAT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也是系统的一部分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9686925" y="904875"/>
            <a:ext cx="2124075" cy="295275"/>
          </a:xfrm>
          <a:prstGeom prst="roundRect">
            <a:avLst>
              <a:gd name="adj" fmla="val 1290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810750" y="952500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2026-10-15 13:48–14:01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1333500"/>
            <a:ext cx="3619500" cy="3524250"/>
          </a:xfrm>
          <a:prstGeom prst="roundRect">
            <a:avLst>
              <a:gd name="adj" fmla="val 16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552450" y="152400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66750" y="15906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90600" y="15621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52450" y="2000250"/>
            <a:ext cx="3276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Box 1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点击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Safe-Op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，提示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Master state PREOP is insufficient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52450" y="2809875"/>
            <a:ext cx="3276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这与前面的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SPI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故障性质不同：从站请求受到主站状态限制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52450" y="3619500"/>
            <a:ext cx="32766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3714750"/>
            <a:ext cx="3009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应先查看父节点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Device 2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的状态，而不是只在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Box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重复请求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191000" y="1333500"/>
            <a:ext cx="3619500" cy="3524250"/>
          </a:xfrm>
          <a:prstGeom prst="roundRect">
            <a:avLst>
              <a:gd name="adj" fmla="val 16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362450" y="152400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476750" y="15906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800600" y="156210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关键证据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362450" y="2000250"/>
            <a:ext cx="3276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Device 2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Cyclic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列：发送帧数与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Frames/sec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均为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362450" y="2809875"/>
            <a:ext cx="3276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Queued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列仍有收发，但那是非周期通信，只够读邮箱与寄存器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362450" y="3619500"/>
            <a:ext cx="32766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495800" y="3714750"/>
            <a:ext cx="3009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能读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CoE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不等于已经具备周期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PDO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通信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8001000" y="1333500"/>
            <a:ext cx="3619500" cy="3524250"/>
          </a:xfrm>
          <a:prstGeom prst="roundRect">
            <a:avLst>
              <a:gd name="adj" fmla="val 162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8172450" y="152400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286750" y="15906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610600" y="15621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处理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172450" y="2000250"/>
            <a:ext cx="3276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Device 2 → Advanced Settings → State Machine → Master Settings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172450" y="2809875"/>
            <a:ext cx="32766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Startup State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暂设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SAFEOP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，保留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Config Mode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，执行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Toggle Free Run State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172450" y="3971925"/>
            <a:ext cx="32766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05800" y="4067175"/>
            <a:ext cx="3009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该命令是开关，不应反复点击；它可在无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PLC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任务时驱动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I/O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81000" y="4972050"/>
            <a:ext cx="11430000" cy="952500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590550" y="5143500"/>
            <a:ext cx="76200" cy="6096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5200650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随后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SAFEOP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State=4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）→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OP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State=8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），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WcState=0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CycleCounter=2127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739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9CCEE"/>
                </a:solidFill>
                <a:latin typeface="Microsoft YaHei"/>
                <a:ea typeface="Microsoft YaHei"/>
              </a:rPr>
              <a:t>最后这段状态推进由主站操作与从站固件共同完成，不能用「</a:t>
            </a:r>
            <a:r>
              <a:rPr lang="en-US" sz="1350">
                <a:solidFill>
                  <a:srgbClr val="B9CCEE"/>
                </a:solidFill>
                <a:latin typeface="Microsoft YaHei"/>
                <a:ea typeface="Microsoft YaHei"/>
              </a:rPr>
              <a:t>SPI </a:t>
            </a:r>
            <a:r>
              <a:rPr lang="zh-CN" sz="1350">
                <a:solidFill>
                  <a:srgbClr val="B9CCEE"/>
                </a:solidFill>
                <a:latin typeface="Microsoft YaHei"/>
                <a:ea typeface="Microsoft YaHei"/>
              </a:rPr>
              <a:t>修好了」概括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551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节；参考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Beckhoff TwinCAT 3 Infosys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状态机与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FreeRun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说明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style={{ width: '1280px', height: '720px', background: '#FFFFFF', padding: '0px' }}&gt;&#13;&#10;    &lt;Box style={{ width: '100%', height: '72px', background: '#0E3F8C', padding: '0 40px', flexDirection: 'row', alignItems: 'center', justifyContent: 'space-between' }}&gt;&#13;&#10;        &lt;Text style={{ fontSize: '34px', fontWeight: 'bold', color: '#FFFFFF' }}&gt;状态推进证据链：每一级证明了什么&lt;/Text&gt;&#13;&#10;        &lt;Text style={{ fontSize: '16px', color: '#9DBDF0' }}&gt;证据链与后续计划&lt;/Text&gt;&#13;&#10;    &lt;/Box&gt;&#13;&#10;    &lt;Box style={{ width: '100%', height: '608px', padding: '20px 40px', gap: '12px' }}&gt;&#13;&#10;        &lt;Box style={{ width: '1200px', height: '466px', flexDirection: 'row', alignItems: 'center', gap: '10px' }}&gt;&#13;&#10;            &lt;Box style={{ width: '250px', height: '466px', background: '#F7F9FC', border: '1px solid #D6DCE5', borderRadius: '6px', padding: '16px 18px', gap: '12px' }}&gt;&#13;&#10;                &lt;Box style={{ width: '100%', height: '54px', background: '#1E4FA8', borderRadius: '4px', alignItems: 'center', justifyContent: 'center' }}&gt;&#13;&#10;                    &lt;Text style={{ fontSize: '26px', fontWeight: 'bold', color: '#FFFFFF' }}&gt;INIT&lt;/Text&gt;&#13;&#10;                &lt;/Box&gt;&#13;&#10;                &lt;Text style={{ fontSize: '19px', fontWeight: 'bold', color: '#1E4FA8' }}&gt;判据&lt;/Text&gt;&#13;&#10;                &lt;Text style={{ fontSize: '19px', color: '#4A5568', lineHeight: '1.5' }}&gt;BYTE_TEST = 0x87654321&lt;br /&gt;ID_REV = 0x92520001&lt;br /&gt;PDI 类型 = 0x80&lt;/Text&gt;&#13;&#10;                &lt;Box style={{ width: '100%', background: '#FFFFFF', border: '1px solid #E5E7EB', borderRadius: '6px', padding: '12px 14px' }}&gt;&#13;&#10;                    &lt;Text style={{ fontSize: '18px', color: '#1A2230', lineHeight: '1.5' }}&gt;证明：MCU 经 SPI1 能正确访问 ESC 主机寄存器&lt;/Text&gt;&#13;&#10;                &lt;/Box&gt;&#13;&#10;            &lt;/Box&gt;&#13;&#10;            &lt;Box style={{ width: '30px', alignItems: 'center' }}&gt;&lt;Text style={{ fontSize: '28px', fontWeight: 'bold', color: '#3D7BD9' }}&gt;→&lt;/Text&gt;&lt;/Box&gt;&#13;&#10;            &lt;Box style={{ width: '250px', height: '466px', background: '#F7F9FC', border: '1px solid #D6DCE5', borderRadius: '6px', padding: '16px 18px', gap: '12px' }}&gt;&#13;&#10;                &lt;Box style={{ width: '100%', height: '54px', background: '#1E4FA8', borderRadius: '4px', alignItems: 'center', justifyContent: 'center' }}&gt;&#13;&#10;                    &lt;Text style={{ fontSize: '26px', fontWeight: 'bold', color: '#FFFFFF' }}&gt;PREOP&lt;/Text&gt;&#13;&#10;                &lt;/Box&gt;&#13;&#10;                &lt;Text style={{ fontSize: '19px', fontWeight: 'bold', color: '#1E4FA8' }}&gt;判据&lt;/Text&gt;&#13;&#10;                &lt;Text style={{ fontSize: '19px', color: '#4A5568', lineHeight: '1.5' }}&gt;CoE Online 可读 0x1018&lt;br /&gt;Vendor 0x00F0C743&lt;br /&gt;Product 0x00009252&lt;/Text&gt;&#13;&#10;                &lt;Box style={{ width: '100%', background: '#FFFFFF', border: '1px solid #E5E7EB', borderRadius: '6px', padding: '12px 14px' }}&gt;&#13;&#10;                    &lt;Text style={{ fontSize: '18px', color: '#1A2230', lineHeight: '1.5' }}&gt;证明：邮箱、CoE 与对象字典处理已实际工作&lt;/Text&gt;&#13;&#10;                &lt;/Box&gt;&#13;&#10;            &lt;/Box&gt;&#13;&#10;            &lt;Box style={{ width: '30px', alignItems: 'center' }}&gt;&lt;Text style={{ fontSize: '28px', fontWeight: 'bold', color: '#3D7BD9' }}&gt;→&lt;/Text&gt;&lt;/Box&gt;&#13;&#10;            &lt;Box style={{ width: '250px', height: '466px', background: '#F7F9FC', border: '1px solid #D6DCE5', borderRadius: '6px', padding: '16px 18px', gap: '12px' }}&gt;&#13;&#10;                &lt;Box style={{ width: '100%', height: '54px', background: '#1E4FA8', borderRadius: '4px', alignItems: 'center', justifyContent: 'center' }}&gt;&#13;&#10;                    &lt;Text style={{ fontSize: '26px', fontWeight: 'bold', color: '#FFFFFF' }}&gt;SAFEOP&lt;/Text&gt;&#13;&#10;                &lt;/Box&gt;&#13;&#10;                &lt;Text style={{ fontSize: '19px', fontWeight: 'bold', color: '#1E4FA8' }}&gt;判据&lt;/Text&gt;&#13;&#10;                &lt;Text style={{ fontSize: '19px', color: '#4A5568', lineHeight: '1.5' }}&gt;State = 4，WcState = 0&lt;br /&gt;StatusWord 与计数为 0&lt;br /&gt;错误数为 0&lt;/Text&gt;&#13;&#10;                &lt;Box style={{ width: '100%', background: '#FFFFFF', border: '1px solid #E5E7EB', borderRadius: '6px', padding: '12px 14px' }}&gt;&#13;&#10;                    &lt;Text style={{ fontSize: '18px', color: '#1A2230', lineHeight: '1.5' }}&gt;证明：SM 与 PDO 配置被接受，尚未收到有效输出&lt;/Text&gt;&#13;&#10;                &lt;/Box&gt;&#13;&#10;            &lt;/Box&gt;&#13;&#10;            &lt;Box style={{ width: '30px', alignItems: 'center' }}&gt;&lt;Text style={{ fontSize: '28px', fontWeight: 'bold', color: '#3D7BD9' }}&gt;→&lt;/Text&gt;&lt;/Box&gt;&#13;&#10;            &lt;Box style={{ width: '250px', height: '466px', background: '#E8EFF8', border: '1px solid #3D7BD9', borderRadius: '6px', padding: '16px 18px', gap: '12px' }}&gt;&#13;&#10;                &lt;Box style={{ width: '100%', height: '54px', background: '#0E3F8C', borderRadius: '4px', alignItems: 'center', justifyContent: 'center' }}&gt;&#13;&#10;                    &lt;Text style={{ fontSize: '26px', fontWeight: 'bold', color: '#FFFFFF' }}&gt;OP&lt;/Text&gt;&#13;&#10;                &lt;/Box&gt;&#13;&#10;                &lt;Text style={{ fontSize: '19px', fontWeight: 'bold', color: '#1E4FA8' }}&gt;判据&lt;/Text&gt;&#13;&#10;                &lt;Text style={{ fontSize: '19px', color: '#4A5568', lineHeight: '1.5' }}&gt;State = 8，WcState = 0&lt;br /&gt;CycleCounter = 2127&lt;br /&gt;ControlWord = 0&lt;/Text&gt;&#13;&#10;                &lt;Box style={{ width: '100%', background: '#FFFFFF', borderRadius: '6px', padding: '12px 14px' }}&gt;&#13;&#10;                    &lt;Text style={{ fontSize: '18px', color: '#1A2230', lineHeight: '1.5' }}&gt;证明：周期交换已建立，发生过有效应用迭代&lt;/Text&gt;&#13;&#10;                &lt;/Box&gt;&#13;&#10;            &lt;/Box&gt;&#13;&#10;        &lt;/Box&gt;&#13;&#10;        &lt;Box style={{ width: '1200px', height: '90px', background: '#0E3F8C', borderRadius: '6px', padding: '0 22px', flexDirection: 'row', alignItems: 'center', gap: '18px' }}&gt;&#13;&#10;            &lt;Box style={{ width: '8px', height: '58px', background: '#FFC107' }} /&gt;&#13;&#10;            &lt;Text style={{ fontSize: '21px', color: '#FFFFFF', lineHeight: '1.5' }}&gt;&#13;&#10;                每级只证明本级的事：PREOP 证明邮箱与 CoE，不代表已有周期 PDO；OP 计数器非零也不代表稳定性&#13;&#10;            &lt;/Text&gt;&#13;&#10;        &lt;/Box&gt;&#13;&#10;    &lt;/Box&gt;&#13;&#10;    &lt;Box style={{ width: '100%', height: '40px', padding: '0 40px', flexDirection: 'row', alignItems: 'center', justifyContent: 'space-between' }}&gt;&#13;&#10;        &lt;Text style={{ fontSize: '14px', color: '#8B97A8' }}&gt;数据来源：TwinCAT CoE Online 与 Online 状态截图（2026-10-15）&lt;/Text&gt;&#13;&#10;        &lt;Text style={{ fontSize: '15px', fontWeight: 'bold', color: '#1E4FA8' }}&gt;12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状态推进证据链：每一级证明了什么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591800" y="2476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证据链与后续计划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381000" y="876300"/>
            <a:ext cx="2381250" cy="443865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552450" y="102870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304925" y="1133475"/>
            <a:ext cx="533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INIT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52450" y="16573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2038350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BYTE_TEST = 0x87654321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ID_REV = 0x92520001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PDI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类型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0x80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52450" y="3409950"/>
            <a:ext cx="20383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MCU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SPI1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能正确访问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ESC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主机寄存器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867025" y="29337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238500" y="876300"/>
            <a:ext cx="2381250" cy="443865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3409950" y="102870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010025" y="1133475"/>
            <a:ext cx="847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PREOP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409950" y="16573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409950" y="1990725"/>
            <a:ext cx="2038350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CoE Online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可读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0x1018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Vendor 0x00F0C743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Product 0x00009252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3409950" y="3409950"/>
            <a:ext cx="2038350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543300" y="3524250"/>
            <a:ext cx="1771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证明：邮箱、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CoE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与对象字典处理已实际工作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24525" y="29337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0" y="876300"/>
            <a:ext cx="2381250" cy="443865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267450" y="102870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800850" y="1133475"/>
            <a:ext cx="981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SAFEOP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267450" y="16573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267450" y="1990725"/>
            <a:ext cx="2038350" cy="981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State = 4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WcState = 0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StatusWord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与计数为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错误数为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267450" y="3086100"/>
            <a:ext cx="20383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00800" y="3200400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SM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PDO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配置被接受，尚未收到有效输出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582025" y="29337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953500" y="876300"/>
            <a:ext cx="2381250" cy="4438650"/>
          </a:xfrm>
          <a:prstGeom prst="roundRect">
            <a:avLst>
              <a:gd name="adj" fmla="val 24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9124950" y="102870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963150" y="1133475"/>
            <a:ext cx="3714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OP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124950" y="16573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124950" y="1990725"/>
            <a:ext cx="2038350" cy="981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State = 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WcState = 0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CycleCounter = 2127</a:t>
            </a:r>
            <a:endParaRPr/>
          </a:p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ControlWord = 0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9124950" y="3086100"/>
            <a:ext cx="20383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258300" y="3200400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证明：周期交换已建立，发生过有效应用迭代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81000" y="5429250"/>
            <a:ext cx="11430000" cy="857250"/>
          </a:xfrm>
          <a:prstGeom prst="roundRect">
            <a:avLst>
              <a:gd name="adj" fmla="val 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590550" y="5581650"/>
            <a:ext cx="76200" cy="5524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5676900"/>
            <a:ext cx="91821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每级只证明本级的事：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PREOP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证明邮箱与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CoE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，不代表已有周期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PDO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；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OP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计数器非零也不代表稳定性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17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TwinCAT CoE Online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Online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状态截图（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2026-10-15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8" name="" descr="&lt;Slide style={{ width: '1280px', height: '720px', background: '#FFFFFF', padding: '0px' }}&gt;&#10;    &lt;Box style={{ width: '100%', height: '72px', background: '#0E3F8C', padding: '0 40px', flexDirection: 'row', alignItems: 'center', justifyContent: 'space-between' }}&gt;&#10;        &lt;Text style={{ fontSize: '34px', fontWeight: 'bold', color: '#FFFFFF' }}&gt;OP 已经证明什么，还没有证明什么&lt;/Text&gt;&#10;        &lt;Text style={{ fontSize: '16px', color: '#9DBDF0' }}&gt;证据链与后续计划&lt;/Text&gt;&#10;    &lt;/Box&gt;&#10;    &lt;Box style={{ width: '100%', height: '608px', padding: '20px 40px', gap: '12px' }}&gt;&#10;        &lt;Box style={{ width: '1200px', height: '32px', flexDirection: 'row', alignItems: 'center' }}&gt;&#10;            &lt;Text style={{ fontSize: '22px', fontWeight: 'bold', color: '#1A2230' }}&gt;结论边界：把结论停在证据能够支撑的地方&lt;/Text&gt;&#10;        &lt;/Box&gt;&#10;        &lt;Box style={{ width: '1200px', height: '440px', flexDirection: 'row', gap: '20px' }}&gt;&#10;            &lt;Box style={{ width: '590px', height: '440px', background: '#F7F9FC', border: '1px solid #D6DCE5', borderRadius: '6px', padding: '0 22px 20px 22px', gap: '10px' }}&gt;&#10;                &lt;Box style={{ width: '100%', height: '46px', flexDirection: 'row', alignItems: 'center', gap: '10px' }}&gt;&#10;                    &lt;Box style={{ width: '8px', height: '26px', background: '#1E4FA8' }} /&gt;&#10;                    &lt;Text style={{ fontSize: '26px', fontWeight: 'bold', color: '#1A2230' }}&gt;已经证明&lt;/Text&gt;&#10;                &lt;/Box&gt;&#10;                &lt;Text style={{ fontSize: '20px', color: '#4A5568', lineHeight: '1.55' }}&gt;完整链路打通：网口 → LAN9252 → SPI1 → H743 协议栈 → 周期输入数据&lt;/Text&gt;&#10;                &lt;Text style={{ fontSize: '20px', color: '#4A5568', lineHeight: '1.55' }}&gt;状态可达：从站可依次进入 PREOP、SAFEOP 与 OP，且 WcState 为 0&lt;/Text&gt;&#10;                &lt;Text style={{ fontSize: '20px', color: '#4A5568', lineHeight: '1.55' }}&gt;应用迭代：CycleCounter 非零，说明发生过有效的过程数据交换&lt;/Text&gt;&#10;                &lt;Box style={{ width: '100%', background: '#E8EFF8', borderRadius: '6px', padding: '12px 16px' }}&gt;&#10;                    &lt;Text style={{ fontSize: '18px', color: '#1E4FA8', lineHeight: '1.5' }}&gt;对象字典可用：CoE 在线读取 0x1018 身份与对象字典成功&lt;/Text&gt;&#10;                &lt;/Box&gt;&#10;            &lt;/Box&gt;&#10;            &lt;Box style={{ width: '590px', height: '440px', background: '#F7F9FC', border: '1px solid #D6DCE5', borderRadius: '6px', padding: '0 22px 20px 22px', gap: '10px' }}&gt;&#10;                &lt;Box style={{ width: '100%', height: '46px', flexDirection: 'row', alignItems: 'center', gap: '10px' }}&gt;&#10;                    &lt;Box style={{ width: '8px', height: '26px', background: '#D9534F' }} /&gt;&#10;                    &lt;Text style={{ fontSize: '26px', fontWeight: 'bold', color: '#1A2230' }}&gt;尚未证明&lt;/Text&gt;&#10;                &lt;/Box&gt;&#10;                &lt;Text style={{ fontSize: '20px', color: '#4A5568', lineHeight: '1.55' }}&gt;长期稳定：单张截图不能证明计数在后续十分钟内持续变化&lt;/Text&gt;&#10;                &lt;Text style={{ fontSize: '20px', color: '#4A5568', lineHeight: '1.55' }}&gt;1 ms 实时性：服务耗时上限曾记录 4510 µs，不能据此承诺周期&lt;/Text&gt;&#10;                &lt;Text style={{ fontSize: '20px', color: '#4A5568', lineHeight: '1.55' }}&gt;非零 PDO 回环：代码与主机测试支持，实板序列尚未验收&lt;/Text&gt;&#10;                &lt;Box style={{ width: '100%', background: '#FFFFFF', border: '1px solid #E5E7EB', borderRadius: '6px', padding: '12px 16px' }}&gt;&#10;                    &lt;Text style={{ fontSize: '18px', color: '#8B97A8', lineHeight: '1.5' }}&gt;电机闭环与 DC 同步不在本阶段范围；错误栏为 0 但仍有 1 条未展开警告待补录&lt;/Text&gt;&#10;                &lt;/Box&gt;&#10;            &lt;/Box&gt;&#10;        &lt;/Box&gt;&#10;        &lt;Box style={{ width: '1200px', height: '72px', background: '#0E3F8C', borderRadius: '6px', padding: '0 22px', flexDirection: 'row', alignItems: 'center', gap: '18px' }}&gt;&#10;            &lt;Box style={{ width: '8px', height: '46px', background: '#FFC107' }} /&gt;&#10;            &lt;Text style={{ fontSize: '21px', color: '#FFFFFF' }}&gt;先说清边界，再谈下一步：这样后续验收的数据才具备可比性&lt;/Text&gt;&#10;        &lt;/Box&gt;&#10;    &lt;/Box&gt;&#10;    &lt;Box style={{ width: '100%', height: '40px', padding: '0 40px', flexDirection: 'row', alignItems: 'center', justifyContent: 'space-between' }}&gt;&#10;        &lt;Text style={{ fontSize: '14px', color: '#8B97A8' }}&gt;数据来源：调试总结文档第 10.1 节与第 12 节&lt;/Text&gt;&#10;        &lt;Text style={{ fontSize: '15px', fontWeight: 'bold', color: '#1E4FA8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114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OP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已经证明什么，还没有证明什么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591800" y="2476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证据链与后续计划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结论边界：把结论停在证据能够支撑的地方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1295400"/>
            <a:ext cx="5619750" cy="4191000"/>
          </a:xfrm>
          <a:prstGeom prst="roundRect">
            <a:avLst>
              <a:gd name="adj" fmla="val 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90550" y="1390650"/>
            <a:ext cx="7620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2000" y="13620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已经证明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90550" y="182880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完整链路打通：网口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LAN9252 → SPI1 → H743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协议栈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周期输入数据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90550" y="2638425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状态可达：从站可依次进入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PREOP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SAFEOP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OP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，且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WcState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90550" y="344805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应用迭代：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CycleCounter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非零，说明发生过有效的过程数据交换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90550" y="4257675"/>
            <a:ext cx="5200650" cy="542925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42950" y="437197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对象字典可用：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CoE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在线读取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0x1018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身份与对象字典成功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191250" y="1295400"/>
            <a:ext cx="5619750" cy="4191000"/>
          </a:xfrm>
          <a:prstGeom prst="roundRect">
            <a:avLst>
              <a:gd name="adj" fmla="val 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400800" y="1390650"/>
            <a:ext cx="76200" cy="2476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572250" y="13620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尚未证明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00800" y="1828800"/>
            <a:ext cx="520065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长期稳定：单张截图不能证明计数在后续十分钟内持续变化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400800" y="2286000"/>
            <a:ext cx="5200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1 ms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实时性：服务耗时上限曾记录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4510 µs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，不能据此承诺周期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400800" y="3095625"/>
            <a:ext cx="520065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非零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PDO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回环：代码与主机测试支持，实板序列尚未验收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400800" y="3552825"/>
            <a:ext cx="5200650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553200" y="3667125"/>
            <a:ext cx="4895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电机闭环与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DC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同步不在本阶段范围；错误栏为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0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但仍有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条未展开警告待补录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81000" y="5600700"/>
            <a:ext cx="11430000" cy="685800"/>
          </a:xfrm>
          <a:prstGeom prst="roundRect">
            <a:avLst>
              <a:gd name="adj" fmla="val 8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590550" y="5724525"/>
            <a:ext cx="76200" cy="438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38200" y="5819775"/>
            <a:ext cx="5400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先说清边界，再谈下一步：这样后续验收的数据才具备可比性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10.1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节与第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5" name="" descr="&lt;Slide style={{ width: '1280px', height: '720px', background: '#FFFFFF', padding: '0px' }}&gt;&#13;&#10;    &lt;Box style={{ width: '100%', height: '72px', background: '#0E3F8C', padding: '0 40px', flexDirection: 'row', alignItems: 'center', justifyContent: 'space-between' }}&gt;&#13;&#10;        &lt;Text style={{ fontSize: '34px', fontWeight: 'bold', color: '#FFFFFF' }}&gt;后续验收计划与可复现操作要点&lt;/Text&gt;&#13;&#10;        &lt;Text style={{ fontSize: '16px', color: '#9DBDF0' }}&gt;证据链与后续计划&lt;/Text&gt;&#13;&#10;    &lt;/Box&gt;&#13;&#10;    &lt;Box style={{ width: '100%', height: '608px', padding: '20px 40px', gap: '12px' }}&gt;&#13;&#10;        &lt;Box style={{ width: '1200px', height: '32px', flexDirection: 'row', alignItems: 'center', justifyContent: 'space-between' }}&gt;&#13;&#10;            &lt;Text style={{ fontSize: '22px', fontWeight: 'bold', color: '#1A2230' }}&gt;六项后续验收与复现时的关键约束&lt;/Text&gt;&#13;&#10;            &lt;Box style={{ background: '#E8EFF8', padding: '5px 13px', borderRadius: '4px' }}&gt;&#13;&#10;                &lt;Text style={{ fontSize: '17px', color: '#1E4FA8' }}&gt;详见 runbook 与首故障记录&lt;/Text&gt;&#13;&#10;            &lt;/Box&gt;&#13;&#10;        &lt;/Box&gt;&#13;&#10;        &lt;Box style={{ width: '1200px', height: '440px', flexDirection: 'row', gap: '20px' }}&gt;&#13;&#10;            &lt;Box style={{ width: '640px', height: '440px', background: '#FFFFFF', border: '1px solid #D6DCE5', borderRadius: '6px', padding: '16px 18px', gap: '10px' }}&gt;&#13;&#10;                &lt;Text style={{ fontSize: '25px', fontWeight: 'bold', color: '#1E4FA8' }}&gt;六项后续验收&lt;/Text&gt;&#13;&#10;                &lt;Table&#13;&#10;                    style={{ width: '100%', height: '360px' }}&#13;&#10;                    defaultTextStyle={{ fontSize: '18px', textAlign: 'left', color: '#1A2230' }}&#13;&#10;                    defaultCellStyle={{&#13;&#10;                        padding: '7px 12px',&#13;&#10;                        border: {&#13;&#10;                            left: { width: 1, color: '#E5E7EB' },&#13;&#10;                            right: { width: 1, color: '#E5E7EB' },&#13;&#10;                            top: { width: 1, color: '#E5E7EB' },&#13;&#10;                            bottom: { width: 1, color: '#E5E7EB' },&#13;&#10;                        },&#13;&#10;                    }}&#13;&#10;                    cells={[&#13;&#10;                        [&#13;&#10;                            { text: '测试项', textStyle: { bold: true, color: '#FFFFFF', fontSize: '19px' }, cellStyle: { background: { color: '#0E3F8C' } } },&#13;&#10;                            { text: '通过条件与记录要求', textStyle: { bold: true, color: '#FFFFFF', fontSize: '19px' }, cellStyle: { background: { color: '#0E3F8C' } } },&#13;&#10;                        ],&#13;&#10;                        [&#13;&#10;                            { text: '零输出稳定性', cellStyle: { background: { color: '#FFFFFF' } } },&#13;&#10;                            { text: '保持 OP ≥ 10 分钟，WcState=0，计数持续变化', cellStyle: { background: { color: '#FFFFFF' } } },&#13;&#10;                        ],&#13;&#10;                        [&#13;&#10;                            { text: '非零 PDO 回环', cellStyle: { background: { color: '#F7F9FC' } } },&#13;&#10;                            { text: '控制字 0/1/2/3 输入，状态字应为 0/1/0/1，用周期 PDO 写入', cellStyle: { background: { color: '#F7F9FC' } } },&#13;&#10;                        ],&#13;&#10;                        [&#13;&#10;                            { text: '重复冷启动', cellStyle: { background: { color: '#FFFFFF' } } },&#13;&#10;                            { text: '多轮真正断电重启，记录各级状态与是否出现首故障', cellStyle: { background: { color: '#FFFFFF' } } },&#13;&#10;                        ],&#13;&#10;                        [&#13;&#10;                            { text: '状态往返', cellStyle: { background: { color: '#F7F9FC' } } },&#13;&#10;                            { text: '多轮 INIT↔OP 往返，无方向性卡死', cellStyle: { background: { color: '#F7F9FC' } } },&#13;&#10;                        ],&#13;&#10;                        [&#13;&#10;                            { text: '网线断开恢复', cellStyle: { background: { color: '#FFFFFF' } } },&#13;&#10;                            { text: '保存断线前后状态、看门狗与计数，SPI 健康时按流程恢复', cellStyle: { background: { color: '#FFFFFF' } } },&#13;&#10;                        ],&#13;&#10;                        [&#13;&#10;                            { text: '缩短实际周期', cellStyle: { background: { color: '#F7F9FC' } } },&#13;&#10;                            { text: '先完成宽周期验证再评估 1 ms，记录真实周期与丢帧', cellStyle: { background: { color: '#F7F9FC' } } },&#13;&#10;                        ],&#13;&#10;                    ]}&#13;&#10;                /&gt;&#13;&#10;            &lt;/Box&gt;&#13;&#10;            &lt;Box style={{ width: '540px', height: '440px', background: '#F7F9FC', border: '1px solid #D6DCE5', borderRadius: '6px', padding: '16px 20px', gap: '8px' }}&gt;&#13;&#10;                &lt;Text style={{ fontSize: '25px', fontWeight: 'bold', color: '#1E4FA8' }}&gt;复现时的关键约束&lt;/Text&gt;&#13;&#10;                &lt;Text style={{ fontSize: '18px', color: '#4A5568', lineHeight: '1.5' }}&gt;保持电机断开与功率级禁用，确认 PC4 为低，编译宏保持 bring-up 模式&lt;/Text&gt;&#13;&#10;                &lt;Text style={{ fontSize: '18px', color: '#4A5568', lineHeight: '1.5' }}&gt;核对 SPI1 引脚、Mode 0、4 MHz、软件 CS 与 MasterKeepIOState 已生效&lt;/Text&gt;&#13;&#10;                &lt;Text style={{ fontSize: '18px', color: '#4A5568', lineHeight: '1.5' }}&gt;由操作者完成 Rebuild 与下载，记录实际 HEX 散列；下载不等价于冷启动&lt;/Text&gt;&#13;&#10;                &lt;Text style={{ fontSize: '18px', color: '#4A5568', lineHeight: '1.5' }}&gt;Config Mode 扫描网卡，建议先用 10 ms 周期，确认 Cyclic 帧数增长后再推进&lt;/Text&gt;&#13;&#10;                &lt;Box style={{ width: '100%', background: '#E8EFF8', borderRadius: '6px', padding: '12px 16px' }}&gt;&#13;&#10;                    &lt;Text style={{ fontSize: '18px', color: '#1E4FA8', lineHeight: '1.5' }}&gt;失败时先保存主站错误原文与两份快照，不要先复位、重新下载或重写 EEPROM&lt;/Text&gt;&#13;&#10;                &lt;/Box&gt;&#13;&#10;            &lt;/Box&gt;&#13;&#10;        &lt;/Box&gt;&#13;&#10;        &lt;Box style={{ width: '1200px', height: '84px', background: '#0E3F8C', borderRadius: '6px', padding: '0 22px', flexDirection: 'row', alignItems: 'center', gap: '18px' }}&gt;&#13;&#10;            &lt;Box style={{ width: '8px', height: '56px', background: '#FFC107' }} /&gt;&#13;&#10;            &lt;Box style={{ gap: '4px' }}&gt;&#13;&#10;                &lt;Text style={{ fontSize: '21px', color: '#FFFFFF' }}&gt;本阶段已打通通信链路；下一阶段重点是稳定性、完整 PDO 回环与重复上电验收&lt;/Text&gt;&#13;&#10;                &lt;Text style={{ fontSize: '18px', color: '#B9CCEE' }}&gt;之后再单独设计电机 EtherCAT 联动与 DC 同步方案&lt;/Text&gt;&#13;&#10;            &lt;/Box&gt;&#13;&#10;        &lt;/Box&gt;&#13;&#10;    &lt;/Box&gt;&#13;&#10;    &lt;Box style={{ width: '100%', height: '40px', padding: '0 40px', flexDirection: 'row', alignItems: 'center', justifyContent: 'space-between' }}&gt;&#13;&#10;        &lt;Text style={{ fontSize: '14px', color: '#8B97A8' }}&gt;数据来源：调试总结文档第 11、12 节；工程内 docs/ethercat/h743-lan9252-first-op-runbook.md&lt;/Text&gt;&#13;&#10;        &lt;Text style={{ fontSize: '15px', fontWeight: 'bold', color: '#1E4FA8' }}&gt;14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后续验收计划与可复现操作要点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591800" y="2476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DF0"/>
                </a:solidFill>
                <a:latin typeface="Microsoft YaHei"/>
                <a:ea typeface="Microsoft YaHei"/>
              </a:rPr>
              <a:t>证据链与后续计划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六项后续验收与复现时的关键约束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9505950" y="885825"/>
            <a:ext cx="2305050" cy="295275"/>
          </a:xfrm>
          <a:prstGeom prst="roundRect">
            <a:avLst>
              <a:gd name="adj" fmla="val 1290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629775" y="933450"/>
            <a:ext cx="2057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详见</a:t>
            </a: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 runbook </a:t>
            </a: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与首故障记录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81000" y="1295400"/>
            <a:ext cx="6096000" cy="41910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5753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六项后续验收</a:t>
            </a:r>
            <a:endParaRPr/>
          </a:p>
        </p:txBody>
      </p:sp>
      <p:graphicFrame>
        <p:nvGraphicFramePr>
          <p:cNvPr id="165" name=""/>
          <p:cNvGraphicFramePr/>
          <p:nvPr/>
        </p:nvGraphicFramePr>
        <p:xfrm rot="0" flipH="0" flipV="0">
          <a:off x="552450" y="1828800"/>
          <a:ext cx="5753100" cy="3429000"/>
        </p:xfrm>
        <a:graphic>
          <a:graphicData uri="http://schemas.openxmlformats.org/drawingml/2006/table">
            <a:tbl>
              <a:tblGrid>
                <a:gridCol w="1186227">
                  <a:extLst>
                    <a:ext uri="{9D8B030D-6E8A-4147-A177-3AD203B41FA5}">
                      <a16:colId val="1"/>
                    </a:ext>
                  </a:extLst>
                </a:gridCol>
                <a:gridCol w="4566873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通过条件与记录要求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零输出稳定性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保持 OP ≥ 10 分钟，WcState=0，计数持续变化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非零 PDO 回环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控制字 0/1/2/3 输入，状态字应为 0/1/0/1，用周期 PDO 写入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重复冷启动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多轮真正断电重启，记录各级状态与是否出现首故障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状态往返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多轮 INIT↔OP 往返，无方向性卡死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网线断开恢复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保存断线前后状态、看门狗与计数，SPI 健康时按流程恢复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缩短实际周期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先完成宽周期验证再评估 1 ms，记录真实周期与丢帧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166" name=""/>
          <p:cNvSpPr/>
          <p:nvPr/>
        </p:nvSpPr>
        <p:spPr>
          <a:xfrm rot="0" flipH="0" flipV="0">
            <a:off x="6667500" y="1295400"/>
            <a:ext cx="5143500" cy="4191000"/>
          </a:xfrm>
          <a:prstGeom prst="roundRect">
            <a:avLst>
              <a:gd name="adj" fmla="val 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0" y="1447800"/>
            <a:ext cx="4762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复现时的关键约束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0" y="1809750"/>
            <a:ext cx="4762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保持电机断开与功率级禁用，确认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PC4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为低，编译宏保持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bring-up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模式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0" y="2505075"/>
            <a:ext cx="4762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核对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SPI1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引脚、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Mode 0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4 MHz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、软件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CS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MasterKeepIOState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已生效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58000" y="3200400"/>
            <a:ext cx="4762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由操作者完成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Rebuild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与下载，记录实际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HEX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散列；下载不等价于冷启动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0" y="3895725"/>
            <a:ext cx="4762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Config Mode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扫描网卡，建议先用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10 ms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周期，确认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Cyclic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帧数增长后再推进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858000" y="4591050"/>
            <a:ext cx="4762500" cy="847725"/>
          </a:xfrm>
          <a:prstGeom prst="roundRect">
            <a:avLst>
              <a:gd name="adj" fmla="val 674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010400" y="4705350"/>
            <a:ext cx="4457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失败时先保存主站错误原文与两份快照，不要先复位、重新下载或重写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EEPROM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5600700"/>
            <a:ext cx="11430000" cy="800100"/>
          </a:xfrm>
          <a:prstGeom prst="roundRect">
            <a:avLst>
              <a:gd name="adj" fmla="val 714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590550" y="5734050"/>
            <a:ext cx="76200" cy="5334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38200" y="5753100"/>
            <a:ext cx="716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本阶段已打通通信链路；下一阶段重点是稳定性、完整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PDO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回环与重复上电验收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8200" y="6038850"/>
            <a:ext cx="716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9CCEE"/>
                </a:solidFill>
                <a:latin typeface="Microsoft YaHei"/>
                <a:ea typeface="Microsoft YaHei"/>
              </a:rPr>
              <a:t>之后再单独设计电机</a:t>
            </a:r>
            <a:r>
              <a:rPr lang="en-US" sz="1350">
                <a:solidFill>
                  <a:srgbClr val="B9CCEE"/>
                </a:solidFill>
                <a:latin typeface="Microsoft YaHei"/>
                <a:ea typeface="Microsoft YaHei"/>
              </a:rPr>
              <a:t> EtherCAT </a:t>
            </a:r>
            <a:r>
              <a:rPr lang="zh-CN" sz="1350">
                <a:solidFill>
                  <a:srgbClr val="B9CCEE"/>
                </a:solidFill>
                <a:latin typeface="Microsoft YaHei"/>
                <a:ea typeface="Microsoft YaHei"/>
              </a:rPr>
              <a:t>联动与</a:t>
            </a:r>
            <a:r>
              <a:rPr lang="en-US" sz="1350">
                <a:solidFill>
                  <a:srgbClr val="B9CCEE"/>
                </a:solidFill>
                <a:latin typeface="Microsoft YaHei"/>
                <a:ea typeface="Microsoft YaHei"/>
              </a:rPr>
              <a:t> DC </a:t>
            </a:r>
            <a:r>
              <a:rPr lang="zh-CN" sz="1350">
                <a:solidFill>
                  <a:srgbClr val="B9CCEE"/>
                </a:solidFill>
                <a:latin typeface="Microsoft YaHei"/>
                <a:ea typeface="Microsoft YaHei"/>
              </a:rPr>
              <a:t>同步方案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601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数据来源：调试总结文档第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节；工程内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docs/ethercat/h743-lan9252-first-op-runbook.md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96650" y="65817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2026-10-16T18:13:28Z</dcterms:created>
  <dcterms:modified xsi:type="dcterms:W3CDTF">2026-10-16T18:13:28Z</dcterms:modified>
</cp:coreProperties>
</file>